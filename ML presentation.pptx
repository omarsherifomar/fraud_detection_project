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Economica"/>
      <p:regular r:id="rId37"/>
      <p:bold r:id="rId38"/>
      <p:italic r:id="rId39"/>
      <p:boldItalic r:id="rId40"/>
    </p:embeddedFont>
    <p:embeddedFont>
      <p:font typeface="Roboto Mono"/>
      <p:regular r:id="rId41"/>
      <p:bold r:id="rId42"/>
      <p:italic r:id="rId43"/>
      <p:boldItalic r:id="rId44"/>
    </p:embeddedFont>
    <p:embeddedFont>
      <p:font typeface="Open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Economica-boldItalic.fntdata"/><Relationship Id="rId20" Type="http://schemas.openxmlformats.org/officeDocument/2006/relationships/slide" Target="slides/slide15.xml"/><Relationship Id="rId42" Type="http://schemas.openxmlformats.org/officeDocument/2006/relationships/font" Target="fonts/RobotoMono-bold.fntdata"/><Relationship Id="rId41" Type="http://schemas.openxmlformats.org/officeDocument/2006/relationships/font" Target="fonts/RobotoMono-regular.fntdata"/><Relationship Id="rId22" Type="http://schemas.openxmlformats.org/officeDocument/2006/relationships/slide" Target="slides/slide17.xml"/><Relationship Id="rId44" Type="http://schemas.openxmlformats.org/officeDocument/2006/relationships/font" Target="fonts/RobotoMono-boldItalic.fntdata"/><Relationship Id="rId21" Type="http://schemas.openxmlformats.org/officeDocument/2006/relationships/slide" Target="slides/slide16.xml"/><Relationship Id="rId43" Type="http://schemas.openxmlformats.org/officeDocument/2006/relationships/font" Target="fonts/RobotoMono-italic.fntdata"/><Relationship Id="rId24" Type="http://schemas.openxmlformats.org/officeDocument/2006/relationships/slide" Target="slides/slide19.xml"/><Relationship Id="rId46" Type="http://schemas.openxmlformats.org/officeDocument/2006/relationships/font" Target="fonts/OpenSans-bold.fntdata"/><Relationship Id="rId23" Type="http://schemas.openxmlformats.org/officeDocument/2006/relationships/slide" Target="slides/slide18.xml"/><Relationship Id="rId45"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OpenSans-boldItalic.fntdata"/><Relationship Id="rId25" Type="http://schemas.openxmlformats.org/officeDocument/2006/relationships/slide" Target="slides/slide20.xml"/><Relationship Id="rId47" Type="http://schemas.openxmlformats.org/officeDocument/2006/relationships/font" Target="fonts/OpenSans-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Economica-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Economica-italic.fntdata"/><Relationship Id="rId16" Type="http://schemas.openxmlformats.org/officeDocument/2006/relationships/slide" Target="slides/slide11.xml"/><Relationship Id="rId38" Type="http://schemas.openxmlformats.org/officeDocument/2006/relationships/font" Target="fonts/Economica-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136550c5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136550c5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136550c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136550c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acbfb5446b_6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acbfb5446b_6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136550c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136550c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cbfb5446b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cbfb5446b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cbfb5446b_7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cbfb5446b_7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cbfb5446b_7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cbfb5446b_7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cbfb5446b_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cbfb5446b_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cbfb5446b_6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cbfb5446b_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cbfb5446b_6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cbfb5446b_6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d15c5ae3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d15c5ae3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cbfb5446b_7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cbfb5446b_7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d1de74907_13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d1de74907_13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d1de74907_13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d1de74907_13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d1de74907_1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d1de74907_1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d1de74907_13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d1de74907_13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d1de74907_1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d1de74907_13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d1de74907_13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d1de74907_13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d1de74907_13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ad1de74907_13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d1de74907_1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d1de74907_1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136550c5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136550c5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cbfb5446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cbfb5446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cb3dd0fc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cb3dd0fc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cbfb5446b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cbfb5446b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d090281d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d090281d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d090281d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d090281d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d090281d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d090281d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d090281d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d090281d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d090281d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ad090281d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d090281d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ad090281d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11700" y="1724000"/>
            <a:ext cx="8520600" cy="727800"/>
          </a:xfrm>
          <a:prstGeom prst="rect">
            <a:avLst/>
          </a:prstGeom>
        </p:spPr>
        <p:txBody>
          <a:bodyPr anchorCtr="0" anchor="b" bIns="91425" lIns="91425" spcFirstLastPara="1" rIns="91425" wrap="square" tIns="91425">
            <a:normAutofit/>
          </a:bodyPr>
          <a:lstStyle/>
          <a:p>
            <a:pPr indent="0" lvl="0" marL="0" rtl="0" algn="ctr">
              <a:lnSpc>
                <a:spcPct val="122222"/>
              </a:lnSpc>
              <a:spcBef>
                <a:spcPts val="0"/>
              </a:spcBef>
              <a:spcAft>
                <a:spcPts val="1200"/>
              </a:spcAft>
              <a:buNone/>
            </a:pPr>
            <a:r>
              <a:rPr b="1" lang="en-GB" sz="2700">
                <a:solidFill>
                  <a:srgbClr val="202124"/>
                </a:solidFill>
                <a:highlight>
                  <a:srgbClr val="FFFFFF"/>
                </a:highlight>
              </a:rPr>
              <a:t>HEALTHCARE PROVIDER FRAUD DETECTION</a:t>
            </a:r>
            <a:endParaRPr/>
          </a:p>
        </p:txBody>
      </p:sp>
      <p:sp>
        <p:nvSpPr>
          <p:cNvPr id="63" name="Google Shape;63;p13"/>
          <p:cNvSpPr txBox="1"/>
          <p:nvPr>
            <p:ph idx="1" type="subTitle"/>
          </p:nvPr>
        </p:nvSpPr>
        <p:spPr>
          <a:xfrm>
            <a:off x="0" y="4300525"/>
            <a:ext cx="91440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t>By: Omar Sherif, </a:t>
            </a:r>
            <a:r>
              <a:rPr lang="en-GB" sz="1400"/>
              <a:t>Omar Ayman, </a:t>
            </a:r>
            <a:r>
              <a:rPr lang="en-GB" sz="1400"/>
              <a:t>Ahmed Hassan, Ahmed Amr, Abdullah Mahmoud</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Problem &amp; Business Impact:</a:t>
            </a:r>
            <a:endParaRPr/>
          </a:p>
        </p:txBody>
      </p:sp>
      <p:sp>
        <p:nvSpPr>
          <p:cNvPr id="69" name="Google Shape;69;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04800" lvl="0" marL="457200" rtl="0" algn="l">
              <a:spcBef>
                <a:spcPts val="1200"/>
              </a:spcBef>
              <a:spcAft>
                <a:spcPts val="0"/>
              </a:spcAft>
              <a:buClr>
                <a:schemeClr val="dk1"/>
              </a:buClr>
              <a:buSzPts val="1200"/>
              <a:buChar char="●"/>
            </a:pPr>
            <a:r>
              <a:rPr lang="en-GB" sz="1200">
                <a:solidFill>
                  <a:schemeClr val="dk1"/>
                </a:solidFill>
              </a:rPr>
              <a:t>Provider fraud is a major challenge for Medicare, driving significant unnecessary spending and increasing healthcare costs. Fraud often involves inaccurate billing, exaggerated procedures, or claims for services never delivered.</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b="1" lang="en-GB" sz="1200">
                <a:solidFill>
                  <a:schemeClr val="dk1"/>
                </a:solidFill>
              </a:rPr>
              <a:t>Business Impact:</a:t>
            </a:r>
            <a:endParaRPr b="1" sz="1200">
              <a:solidFill>
                <a:schemeClr val="dk1"/>
              </a:solidFill>
            </a:endParaRPr>
          </a:p>
          <a:p>
            <a:pPr indent="-304800" lvl="1" marL="914400" rtl="0" algn="l">
              <a:spcBef>
                <a:spcPts val="0"/>
              </a:spcBef>
              <a:spcAft>
                <a:spcPts val="0"/>
              </a:spcAft>
              <a:buClr>
                <a:schemeClr val="dk1"/>
              </a:buClr>
              <a:buSzPts val="1200"/>
              <a:buChar char="○"/>
            </a:pPr>
            <a:r>
              <a:rPr b="1" lang="en-GB" sz="1100">
                <a:solidFill>
                  <a:schemeClr val="dk1"/>
                </a:solidFill>
              </a:rPr>
              <a:t>Saves Money:</a:t>
            </a:r>
            <a:r>
              <a:rPr lang="en-GB" sz="1100">
                <a:solidFill>
                  <a:schemeClr val="dk1"/>
                </a:solidFill>
              </a:rPr>
              <a:t> Helps stop fake or incorrect Medicare payments.</a:t>
            </a:r>
            <a:endParaRPr sz="1200">
              <a:solidFill>
                <a:schemeClr val="dk1"/>
              </a:solidFill>
            </a:endParaRPr>
          </a:p>
          <a:p>
            <a:pPr indent="-304800" lvl="1" marL="914400" rtl="0" algn="l">
              <a:spcBef>
                <a:spcPts val="0"/>
              </a:spcBef>
              <a:spcAft>
                <a:spcPts val="0"/>
              </a:spcAft>
              <a:buClr>
                <a:schemeClr val="dk1"/>
              </a:buClr>
              <a:buSzPts val="1200"/>
              <a:buChar char="○"/>
            </a:pPr>
            <a:r>
              <a:rPr b="1" lang="en-GB" sz="1100">
                <a:solidFill>
                  <a:schemeClr val="dk1"/>
                </a:solidFill>
              </a:rPr>
              <a:t>Improves Investigations:</a:t>
            </a:r>
            <a:r>
              <a:rPr lang="en-GB" sz="1100">
                <a:solidFill>
                  <a:schemeClr val="dk1"/>
                </a:solidFill>
              </a:rPr>
              <a:t> Tells auditors which providers to check first.</a:t>
            </a:r>
            <a:endParaRPr sz="1200">
              <a:solidFill>
                <a:schemeClr val="dk1"/>
              </a:solidFill>
            </a:endParaRPr>
          </a:p>
          <a:p>
            <a:pPr indent="-304800" lvl="1" marL="914400" rtl="0" algn="l">
              <a:spcBef>
                <a:spcPts val="0"/>
              </a:spcBef>
              <a:spcAft>
                <a:spcPts val="0"/>
              </a:spcAft>
              <a:buClr>
                <a:schemeClr val="dk1"/>
              </a:buClr>
              <a:buSzPts val="1200"/>
              <a:buChar char="○"/>
            </a:pPr>
            <a:r>
              <a:rPr b="1" lang="en-GB" sz="1100">
                <a:solidFill>
                  <a:schemeClr val="dk1"/>
                </a:solidFill>
              </a:rPr>
              <a:t>Builds Trust:</a:t>
            </a:r>
            <a:r>
              <a:rPr lang="en-GB" sz="1100">
                <a:solidFill>
                  <a:schemeClr val="dk1"/>
                </a:solidFill>
              </a:rPr>
              <a:t> Makes the Medicare system more fair and reliable.</a:t>
            </a:r>
            <a:br>
              <a:rPr lang="en-GB" sz="1200">
                <a:solidFill>
                  <a:schemeClr val="dk1"/>
                </a:solidFill>
              </a:rPr>
            </a:br>
            <a:endParaRPr sz="1200">
              <a:solidFill>
                <a:schemeClr val="dk1"/>
              </a:solidFill>
            </a:endParaRPr>
          </a:p>
          <a:p>
            <a:pPr indent="-304800" lvl="0" marL="457200" rtl="0" algn="l">
              <a:spcBef>
                <a:spcPts val="0"/>
              </a:spcBef>
              <a:spcAft>
                <a:spcPts val="0"/>
              </a:spcAft>
              <a:buClr>
                <a:schemeClr val="dk1"/>
              </a:buClr>
              <a:buSzPts val="1200"/>
              <a:buChar char="●"/>
            </a:pPr>
            <a:r>
              <a:rPr lang="en-GB" sz="1100">
                <a:solidFill>
                  <a:schemeClr val="dk1"/>
                </a:solidFill>
              </a:rPr>
              <a:t>Our objective is to build a machine learning system to </a:t>
            </a:r>
            <a:r>
              <a:rPr b="1" lang="en-GB" sz="1100">
                <a:solidFill>
                  <a:schemeClr val="dk1"/>
                </a:solidFill>
              </a:rPr>
              <a:t>identify potentially fraudulent providers</a:t>
            </a:r>
            <a:r>
              <a:rPr lang="en-GB" sz="1100">
                <a:solidFill>
                  <a:schemeClr val="dk1"/>
                </a:solidFill>
              </a:rPr>
              <a:t> based on their claim patterns and to uncover the key factors that signal high-risk behavior.</a:t>
            </a:r>
            <a:endParaRPr sz="1200">
              <a:solidFill>
                <a:schemeClr val="dk1"/>
              </a:solidFill>
            </a:endParaRPr>
          </a:p>
          <a:p>
            <a:pPr indent="0" lvl="0" marL="457200" rtl="0" algn="l">
              <a:spcBef>
                <a:spcPts val="1200"/>
              </a:spcBef>
              <a:spcAft>
                <a:spcPts val="1200"/>
              </a:spcAft>
              <a:buNone/>
            </a:pPr>
            <a:r>
              <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Data Exploration &amp; Feature Engineering</a:t>
            </a:r>
            <a:endParaRPr/>
          </a:p>
        </p:txBody>
      </p:sp>
      <p:sp>
        <p:nvSpPr>
          <p:cNvPr id="75" name="Google Shape;75;p1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GB"/>
              <a:t>Understanding the dataset</a:t>
            </a:r>
            <a:br>
              <a:rPr lang="en-GB"/>
            </a:br>
            <a:endParaRPr/>
          </a:p>
          <a:p>
            <a:pPr indent="-298450" lvl="0" marL="457200" rtl="0" algn="l">
              <a:spcBef>
                <a:spcPts val="0"/>
              </a:spcBef>
              <a:spcAft>
                <a:spcPts val="0"/>
              </a:spcAft>
              <a:buClr>
                <a:schemeClr val="dk1"/>
              </a:buClr>
              <a:buSzPts val="1100"/>
              <a:buChar char="●"/>
            </a:pPr>
            <a:r>
              <a:rPr lang="en-GB"/>
              <a:t>Performing data quality checks</a:t>
            </a:r>
            <a:br>
              <a:rPr lang="en-GB"/>
            </a:br>
            <a:endParaRPr/>
          </a:p>
          <a:p>
            <a:pPr indent="-298450" lvl="0" marL="457200" rtl="0" algn="l">
              <a:spcBef>
                <a:spcPts val="0"/>
              </a:spcBef>
              <a:spcAft>
                <a:spcPts val="0"/>
              </a:spcAft>
              <a:buClr>
                <a:schemeClr val="dk1"/>
              </a:buClr>
              <a:buSzPts val="1100"/>
              <a:buChar char="●"/>
            </a:pPr>
            <a:r>
              <a:rPr lang="en-GB"/>
              <a:t>Exploring beneficiaries, claims, and labels</a:t>
            </a:r>
            <a:br>
              <a:rPr lang="en-GB"/>
            </a:br>
            <a:endParaRPr/>
          </a:p>
          <a:p>
            <a:pPr indent="-298450" lvl="0" marL="457200" rtl="0" algn="l">
              <a:spcBef>
                <a:spcPts val="0"/>
              </a:spcBef>
              <a:spcAft>
                <a:spcPts val="0"/>
              </a:spcAft>
              <a:buClr>
                <a:schemeClr val="dk1"/>
              </a:buClr>
              <a:buSzPts val="1100"/>
              <a:buChar char="●"/>
            </a:pPr>
            <a:r>
              <a:rPr lang="en-GB"/>
              <a:t>Engineering provider-level features</a:t>
            </a:r>
            <a:br>
              <a:rPr lang="en-GB"/>
            </a:br>
            <a:endParaRPr/>
          </a:p>
          <a:p>
            <a:pPr indent="-298450" lvl="0" marL="457200" rtl="0" algn="l">
              <a:spcBef>
                <a:spcPts val="0"/>
              </a:spcBef>
              <a:spcAft>
                <a:spcPts val="0"/>
              </a:spcAft>
              <a:buClr>
                <a:schemeClr val="dk1"/>
              </a:buClr>
              <a:buSzPts val="1100"/>
              <a:buChar char="●"/>
            </a:pPr>
            <a:r>
              <a:rPr lang="en-GB"/>
              <a:t>Preparing the dataset for modeling</a:t>
            </a:r>
            <a:br>
              <a:rPr lang="en-GB"/>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sz="2300">
                <a:solidFill>
                  <a:schemeClr val="dk1"/>
                </a:solidFill>
              </a:rPr>
              <a:t>🔹 Performing data quality checks</a:t>
            </a:r>
            <a:endParaRPr b="1" sz="3020"/>
          </a:p>
        </p:txBody>
      </p:sp>
      <p:sp>
        <p:nvSpPr>
          <p:cNvPr id="81" name="Google Shape;81;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We assess the completeness and consistency of the data.</a:t>
            </a:r>
            <a:endParaRPr/>
          </a:p>
          <a:p>
            <a:pPr indent="0" lvl="0" marL="0" rtl="0" algn="l">
              <a:spcBef>
                <a:spcPts val="1200"/>
              </a:spcBef>
              <a:spcAft>
                <a:spcPts val="0"/>
              </a:spcAft>
              <a:buClr>
                <a:schemeClr val="dk1"/>
              </a:buClr>
              <a:buSzPts val="1100"/>
              <a:buFont typeface="Arial"/>
              <a:buNone/>
            </a:pPr>
            <a:r>
              <a:rPr lang="en-GB"/>
              <a:t>This includes checking for missing values in chronic conditions or cost fields, identifying duplicates or inconsistent claim records, and flagging extreme outliers in billing amounts.</a:t>
            </a:r>
            <a:endParaRPr/>
          </a:p>
          <a:p>
            <a:pPr indent="0" lvl="0" marL="0" rtl="0" algn="l">
              <a:spcBef>
                <a:spcPts val="1200"/>
              </a:spcBef>
              <a:spcAft>
                <a:spcPts val="1200"/>
              </a:spcAft>
              <a:buNone/>
            </a:pPr>
            <a:r>
              <a:rPr lang="en-GB"/>
              <a:t>These checks ensure the dataset is reliable and that errors do not mislead the model.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311700" y="904550"/>
            <a:ext cx="8520600" cy="36642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Clr>
                <a:schemeClr val="dk1"/>
              </a:buClr>
              <a:buSzPts val="1100"/>
              <a:buFont typeface="Arial"/>
              <a:buNone/>
            </a:pPr>
            <a:r>
              <a:rPr b="1" lang="en-GB" sz="2300">
                <a:solidFill>
                  <a:schemeClr val="dk1"/>
                </a:solidFill>
              </a:rPr>
              <a:t>🔹 Understanding the dataset</a:t>
            </a:r>
            <a:endParaRPr b="1" sz="2300">
              <a:solidFill>
                <a:schemeClr val="dk1"/>
              </a:solidFill>
            </a:endParaRPr>
          </a:p>
          <a:p>
            <a:pPr indent="0" lvl="0" marL="0" rtl="0" algn="l">
              <a:spcBef>
                <a:spcPts val="1200"/>
              </a:spcBef>
              <a:spcAft>
                <a:spcPts val="0"/>
              </a:spcAft>
              <a:buClr>
                <a:schemeClr val="dk1"/>
              </a:buClr>
              <a:buSzPts val="1100"/>
              <a:buFont typeface="Arial"/>
              <a:buNone/>
            </a:pPr>
            <a:r>
              <a:rPr lang="en-GB" sz="1300">
                <a:solidFill>
                  <a:schemeClr val="dk1"/>
                </a:solidFill>
              </a:rPr>
              <a:t>This step involves examining all four Medicare files—beneficiary, inpatient, outpatient, and provider labels—to understand what each table represents, how they connect through keys like </a:t>
            </a:r>
            <a:r>
              <a:rPr i="1" lang="en-GB" sz="1300">
                <a:solidFill>
                  <a:schemeClr val="dk1"/>
                </a:solidFill>
              </a:rPr>
              <a:t>BeneID</a:t>
            </a:r>
            <a:r>
              <a:rPr lang="en-GB" sz="1300">
                <a:solidFill>
                  <a:schemeClr val="dk1"/>
                </a:solidFill>
              </a:rPr>
              <a:t> and </a:t>
            </a:r>
            <a:r>
              <a:rPr i="1" lang="en-GB" sz="1300">
                <a:solidFill>
                  <a:schemeClr val="dk1"/>
                </a:solidFill>
              </a:rPr>
              <a:t>Provider</a:t>
            </a:r>
            <a:r>
              <a:rPr lang="en-GB" sz="1300">
                <a:solidFill>
                  <a:schemeClr val="dk1"/>
                </a:solidFill>
              </a:rPr>
              <a:t>, and what the level of granularity is.</a:t>
            </a:r>
            <a:endParaRPr sz="1300">
              <a:solidFill>
                <a:schemeClr val="dk1"/>
              </a:solidFill>
            </a:endParaRPr>
          </a:p>
          <a:p>
            <a:pPr indent="0" lvl="0" marL="0" rtl="0" algn="l">
              <a:spcBef>
                <a:spcPts val="1200"/>
              </a:spcBef>
              <a:spcAft>
                <a:spcPts val="0"/>
              </a:spcAft>
              <a:buClr>
                <a:schemeClr val="dk1"/>
              </a:buClr>
              <a:buSzPts val="1100"/>
              <a:buFont typeface="Arial"/>
              <a:buNone/>
            </a:pPr>
            <a:br>
              <a:rPr lang="en-GB" sz="1400">
                <a:solidFill>
                  <a:schemeClr val="dk1"/>
                </a:solidFill>
              </a:rPr>
            </a:br>
            <a:r>
              <a:rPr lang="en-GB" sz="1400">
                <a:solidFill>
                  <a:schemeClr val="dk1"/>
                </a:solidFill>
              </a:rPr>
              <a:t> It helps us identify which information belongs to patients, which belongs to claims, and what finally maps to each provider, which is our prediction target.</a:t>
            </a:r>
            <a:endParaRPr sz="14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sz="2300">
                <a:solidFill>
                  <a:schemeClr val="dk1"/>
                </a:solidFill>
              </a:rPr>
              <a:t>🔹 Performing data quality checks</a:t>
            </a:r>
            <a:endParaRPr b="1" sz="3020"/>
          </a:p>
        </p:txBody>
      </p:sp>
      <p:sp>
        <p:nvSpPr>
          <p:cNvPr id="92" name="Google Shape;92;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We assess the completeness and consistency of the data.</a:t>
            </a:r>
            <a:endParaRPr/>
          </a:p>
          <a:p>
            <a:pPr indent="0" lvl="0" marL="0" rtl="0" algn="l">
              <a:spcBef>
                <a:spcPts val="1200"/>
              </a:spcBef>
              <a:spcAft>
                <a:spcPts val="0"/>
              </a:spcAft>
              <a:buClr>
                <a:schemeClr val="dk1"/>
              </a:buClr>
              <a:buSzPts val="1100"/>
              <a:buFont typeface="Arial"/>
              <a:buNone/>
            </a:pPr>
            <a:r>
              <a:rPr lang="en-GB"/>
              <a:t>This includes checking for missing values in chronic conditions or cost fields, identifying duplicates or inconsistent claim records, and flagging extreme outliers in billing amounts.</a:t>
            </a:r>
            <a:endParaRPr/>
          </a:p>
          <a:p>
            <a:pPr indent="0" lvl="0" marL="0" rtl="0" algn="l">
              <a:spcBef>
                <a:spcPts val="1200"/>
              </a:spcBef>
              <a:spcAft>
                <a:spcPts val="1200"/>
              </a:spcAft>
              <a:buNone/>
            </a:pPr>
            <a:r>
              <a:rPr lang="en-GB"/>
              <a:t>These checks ensure the dataset is reliable and that errors do not mislead the model.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sz="2300"/>
              <a:t>🔹</a:t>
            </a:r>
            <a:r>
              <a:rPr b="1" lang="en-GB" sz="2300"/>
              <a:t>Data Visualization</a:t>
            </a:r>
            <a:endParaRPr b="1" sz="2300"/>
          </a:p>
        </p:txBody>
      </p:sp>
      <p:sp>
        <p:nvSpPr>
          <p:cNvPr id="98" name="Google Shape;98;p1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 name="Google Shape;99;p19"/>
          <p:cNvPicPr preferRelativeResize="0"/>
          <p:nvPr/>
        </p:nvPicPr>
        <p:blipFill>
          <a:blip r:embed="rId3">
            <a:alphaModFix/>
          </a:blip>
          <a:stretch>
            <a:fillRect/>
          </a:stretch>
        </p:blipFill>
        <p:spPr>
          <a:xfrm>
            <a:off x="289899" y="0"/>
            <a:ext cx="8564203"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Correlation Matrix </a:t>
            </a:r>
            <a:endParaRPr/>
          </a:p>
        </p:txBody>
      </p:sp>
      <p:sp>
        <p:nvSpPr>
          <p:cNvPr id="105" name="Google Shape;105;p2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6" name="Google Shape;106;p20"/>
          <p:cNvPicPr preferRelativeResize="0"/>
          <p:nvPr/>
        </p:nvPicPr>
        <p:blipFill>
          <a:blip r:embed="rId3">
            <a:alphaModFix/>
          </a:blip>
          <a:stretch>
            <a:fillRect/>
          </a:stretch>
        </p:blipFill>
        <p:spPr>
          <a:xfrm>
            <a:off x="0" y="640225"/>
            <a:ext cx="9144000" cy="45032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sz="2100">
                <a:solidFill>
                  <a:schemeClr val="dk1"/>
                </a:solidFill>
              </a:rPr>
              <a:t>🔹</a:t>
            </a:r>
            <a:r>
              <a:rPr b="1" lang="en-GB" sz="2400">
                <a:solidFill>
                  <a:schemeClr val="dk1"/>
                </a:solidFill>
              </a:rPr>
              <a:t> Exploring beneficiaries, claims, and labels</a:t>
            </a:r>
            <a:endParaRPr b="1" sz="3120"/>
          </a:p>
        </p:txBody>
      </p:sp>
      <p:sp>
        <p:nvSpPr>
          <p:cNvPr id="112" name="Google Shape;112;p21"/>
          <p:cNvSpPr txBox="1"/>
          <p:nvPr>
            <p:ph idx="1" type="body"/>
          </p:nvPr>
        </p:nvSpPr>
        <p:spPr>
          <a:xfrm>
            <a:off x="311700" y="1117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In this stage, we analyze patterns in the patient population, claim behaviors, and fraud labels.</a:t>
            </a:r>
            <a:endParaRPr/>
          </a:p>
          <a:p>
            <a:pPr indent="0" lvl="0" marL="0" rtl="0" algn="l">
              <a:spcBef>
                <a:spcPts val="1200"/>
              </a:spcBef>
              <a:spcAft>
                <a:spcPts val="0"/>
              </a:spcAft>
              <a:buClr>
                <a:schemeClr val="dk1"/>
              </a:buClr>
              <a:buSzPts val="1100"/>
              <a:buFont typeface="Arial"/>
              <a:buNone/>
            </a:pPr>
            <a:r>
              <a:rPr lang="en-GB"/>
              <a:t>We compare fraudulent and non-fraudulent providers by looking at claim counts, total billed amounts, patient characteristics, and usage patterns.</a:t>
            </a:r>
            <a:endParaRPr/>
          </a:p>
          <a:p>
            <a:pPr indent="0" lvl="0" marL="0" rtl="0" algn="l">
              <a:spcBef>
                <a:spcPts val="1200"/>
              </a:spcBef>
              <a:spcAft>
                <a:spcPts val="1200"/>
              </a:spcAft>
              <a:buNone/>
            </a:pPr>
            <a:r>
              <a:rPr lang="en-GB"/>
              <a:t>This exploration helps us understand which behaviors may indicate fraud and guides the feature engineering process.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sz="2700">
                <a:solidFill>
                  <a:srgbClr val="000000"/>
                </a:solidFill>
              </a:rPr>
              <a:t>🔹 </a:t>
            </a:r>
            <a:r>
              <a:rPr b="1" lang="en-GB" sz="2700">
                <a:solidFill>
                  <a:srgbClr val="000000"/>
                </a:solidFill>
              </a:rPr>
              <a:t>Engineering provider-level features</a:t>
            </a:r>
            <a:endParaRPr sz="5800"/>
          </a:p>
        </p:txBody>
      </p:sp>
      <p:sp>
        <p:nvSpPr>
          <p:cNvPr id="118" name="Google Shape;118;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600">
                <a:latin typeface="Arial"/>
                <a:ea typeface="Arial"/>
                <a:cs typeface="Arial"/>
                <a:sym typeface="Arial"/>
              </a:rPr>
              <a:t>Because the prediction is made at the </a:t>
            </a:r>
            <a:r>
              <a:rPr b="1" lang="en-GB" sz="1600">
                <a:latin typeface="Arial"/>
                <a:ea typeface="Arial"/>
                <a:cs typeface="Arial"/>
                <a:sym typeface="Arial"/>
              </a:rPr>
              <a:t>provider level</a:t>
            </a:r>
            <a:r>
              <a:rPr lang="en-GB" sz="1600">
                <a:latin typeface="Arial"/>
                <a:ea typeface="Arial"/>
                <a:cs typeface="Arial"/>
                <a:sym typeface="Arial"/>
              </a:rPr>
              <a:t>, we aggregate all claim-level data into meaningful statistics for each provider.</a:t>
            </a:r>
            <a:endParaRPr sz="16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lang="en-GB" sz="1600">
                <a:latin typeface="Arial"/>
                <a:ea typeface="Arial"/>
                <a:cs typeface="Arial"/>
                <a:sym typeface="Arial"/>
              </a:rPr>
              <a:t>This includes features such as total claims, average claim cost, number of unique patients, inpatient/outpatient ratios, procedure counts, and high-cost claim percentages.</a:t>
            </a:r>
            <a:endParaRPr sz="1600">
              <a:latin typeface="Arial"/>
              <a:ea typeface="Arial"/>
              <a:cs typeface="Arial"/>
              <a:sym typeface="Arial"/>
            </a:endParaRPr>
          </a:p>
          <a:p>
            <a:pPr indent="0" lvl="0" marL="0" rtl="0" algn="l">
              <a:spcBef>
                <a:spcPts val="1200"/>
              </a:spcBef>
              <a:spcAft>
                <a:spcPts val="1200"/>
              </a:spcAft>
              <a:buNone/>
            </a:pPr>
            <a:r>
              <a:rPr lang="en-GB" sz="1600">
                <a:latin typeface="Arial"/>
                <a:ea typeface="Arial"/>
                <a:cs typeface="Arial"/>
                <a:sym typeface="Arial"/>
              </a:rPr>
              <a:t>These engineered features capture provider behavior and create a rich, structured dataset for the model.</a:t>
            </a:r>
            <a:endParaRPr sz="2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sz="2100">
                <a:latin typeface="Arial"/>
                <a:ea typeface="Arial"/>
                <a:cs typeface="Arial"/>
                <a:sym typeface="Arial"/>
              </a:rPr>
              <a:t>🔹 </a:t>
            </a:r>
            <a:r>
              <a:rPr b="1" lang="en-GB" sz="2100">
                <a:latin typeface="Arial"/>
                <a:ea typeface="Arial"/>
                <a:cs typeface="Arial"/>
                <a:sym typeface="Arial"/>
              </a:rPr>
              <a:t>Preparing the dataset for modeling</a:t>
            </a:r>
            <a:endParaRPr sz="5200"/>
          </a:p>
        </p:txBody>
      </p:sp>
      <p:sp>
        <p:nvSpPr>
          <p:cNvPr id="124" name="Google Shape;124;p2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Finally, we clean and transform the full feature set to make it ready for training.</a:t>
            </a:r>
            <a:endParaRPr/>
          </a:p>
          <a:p>
            <a:pPr indent="0" lvl="0" marL="0" rtl="0" algn="l">
              <a:spcBef>
                <a:spcPts val="1200"/>
              </a:spcBef>
              <a:spcAft>
                <a:spcPts val="0"/>
              </a:spcAft>
              <a:buClr>
                <a:schemeClr val="dk1"/>
              </a:buClr>
              <a:buSzPts val="1100"/>
              <a:buFont typeface="Arial"/>
              <a:buNone/>
            </a:pPr>
            <a:r>
              <a:rPr lang="en-GB"/>
              <a:t>This includes handling missing data, encoding categorical fields, scaling numerical variables if needed, and splitting the data into training, validation, and test sets.</a:t>
            </a:r>
            <a:endParaRPr/>
          </a:p>
          <a:p>
            <a:pPr indent="0" lvl="0" marL="0" rtl="0" algn="l">
              <a:spcBef>
                <a:spcPts val="1200"/>
              </a:spcBef>
              <a:spcAft>
                <a:spcPts val="1200"/>
              </a:spcAft>
              <a:buNone/>
            </a:pPr>
            <a:r>
              <a:rPr lang="en-GB"/>
              <a:t>We also address class imbalance to ensure the model learns to detect the minority fraud class effectively.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final step of our feature engineering stage</a:t>
            </a:r>
            <a:endParaRPr/>
          </a:p>
        </p:txBody>
      </p:sp>
      <p:sp>
        <p:nvSpPr>
          <p:cNvPr id="130" name="Google Shape;130;p2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After finishing all the feature engineering steps — combining inpatient, outpatient, and beneficiary information — we ended up with one clean table where each row represents a </a:t>
            </a:r>
            <a:r>
              <a:rPr b="1" lang="en-GB"/>
              <a:t>single provider</a:t>
            </a:r>
            <a:r>
              <a:rPr lang="en-GB"/>
              <a:t>, along with all the aggregated features we generated.</a:t>
            </a:r>
            <a:endParaRPr/>
          </a:p>
        </p:txBody>
      </p:sp>
      <p:pic>
        <p:nvPicPr>
          <p:cNvPr id="131" name="Google Shape;131;p24"/>
          <p:cNvPicPr preferRelativeResize="0"/>
          <p:nvPr/>
        </p:nvPicPr>
        <p:blipFill>
          <a:blip r:embed="rId3">
            <a:alphaModFix/>
          </a:blip>
          <a:stretch>
            <a:fillRect/>
          </a:stretch>
        </p:blipFill>
        <p:spPr>
          <a:xfrm>
            <a:off x="1150250" y="2699575"/>
            <a:ext cx="6196049" cy="2024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Class Imbalance Challenge </a:t>
            </a:r>
            <a:endParaRPr/>
          </a:p>
        </p:txBody>
      </p:sp>
      <p:sp>
        <p:nvSpPr>
          <p:cNvPr id="137" name="Google Shape;137;p25"/>
          <p:cNvSpPr txBox="1"/>
          <p:nvPr>
            <p:ph idx="1" type="body"/>
          </p:nvPr>
        </p:nvSpPr>
        <p:spPr>
          <a:xfrm>
            <a:off x="4642450" y="3876725"/>
            <a:ext cx="4184100" cy="702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200"/>
              <a:t>Imbalance Ratio (legit:fraud): </a:t>
            </a:r>
            <a:r>
              <a:rPr b="1" lang="en-GB" sz="1200"/>
              <a:t>9.69:1</a:t>
            </a:r>
            <a:endParaRPr b="1" sz="1200"/>
          </a:p>
          <a:p>
            <a:pPr indent="0" lvl="0" marL="0" rtl="0" algn="l">
              <a:spcBef>
                <a:spcPts val="1200"/>
              </a:spcBef>
              <a:spcAft>
                <a:spcPts val="1200"/>
              </a:spcAft>
              <a:buNone/>
            </a:pPr>
            <a:r>
              <a:rPr lang="en-GB" sz="1200"/>
              <a:t>Fraud represents </a:t>
            </a:r>
            <a:r>
              <a:rPr b="1" lang="en-GB" sz="1200"/>
              <a:t>9.35%</a:t>
            </a:r>
            <a:endParaRPr b="1" sz="1200"/>
          </a:p>
        </p:txBody>
      </p:sp>
      <p:pic>
        <p:nvPicPr>
          <p:cNvPr id="138" name="Google Shape;138;p25"/>
          <p:cNvPicPr preferRelativeResize="0"/>
          <p:nvPr/>
        </p:nvPicPr>
        <p:blipFill>
          <a:blip r:embed="rId3">
            <a:alphaModFix/>
          </a:blip>
          <a:stretch>
            <a:fillRect/>
          </a:stretch>
        </p:blipFill>
        <p:spPr>
          <a:xfrm>
            <a:off x="3134450" y="1147225"/>
            <a:ext cx="5490174" cy="2729500"/>
          </a:xfrm>
          <a:prstGeom prst="rect">
            <a:avLst/>
          </a:prstGeom>
          <a:noFill/>
          <a:ln>
            <a:noFill/>
          </a:ln>
        </p:spPr>
      </p:pic>
      <p:sp>
        <p:nvSpPr>
          <p:cNvPr id="139" name="Google Shape;139;p25"/>
          <p:cNvSpPr txBox="1"/>
          <p:nvPr/>
        </p:nvSpPr>
        <p:spPr>
          <a:xfrm>
            <a:off x="369575" y="1093050"/>
            <a:ext cx="2354100" cy="373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rgbClr val="CCCCCC"/>
              </a:solidFill>
              <a:highlight>
                <a:srgbClr val="181818"/>
              </a:highlight>
            </a:endParaRPr>
          </a:p>
        </p:txBody>
      </p:sp>
      <p:sp>
        <p:nvSpPr>
          <p:cNvPr id="140" name="Google Shape;140;p25"/>
          <p:cNvSpPr txBox="1"/>
          <p:nvPr/>
        </p:nvSpPr>
        <p:spPr>
          <a:xfrm>
            <a:off x="203475" y="1304975"/>
            <a:ext cx="2800800" cy="354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i="1" lang="en-GB" sz="1200">
                <a:solidFill>
                  <a:schemeClr val="dk1"/>
                </a:solidFill>
                <a:latin typeface="Open Sans"/>
                <a:ea typeface="Open Sans"/>
                <a:cs typeface="Open Sans"/>
                <a:sym typeface="Open Sans"/>
              </a:rPr>
              <a:t>Major challenge</a:t>
            </a:r>
            <a:r>
              <a:rPr lang="en-GB" sz="1200">
                <a:solidFill>
                  <a:schemeClr val="dk1"/>
                </a:solidFill>
                <a:latin typeface="Open Sans"/>
                <a:ea typeface="Open Sans"/>
                <a:cs typeface="Open Sans"/>
                <a:sym typeface="Open Sans"/>
              </a:rPr>
              <a:t>: models will be biased toward predicting '</a:t>
            </a:r>
            <a:r>
              <a:rPr b="1" lang="en-GB" sz="1200">
                <a:solidFill>
                  <a:schemeClr val="dk1"/>
                </a:solidFill>
                <a:latin typeface="Open Sans"/>
                <a:ea typeface="Open Sans"/>
                <a:cs typeface="Open Sans"/>
                <a:sym typeface="Open Sans"/>
              </a:rPr>
              <a:t>legitimate</a:t>
            </a:r>
            <a:r>
              <a:rPr lang="en-GB" sz="1200">
                <a:solidFill>
                  <a:schemeClr val="dk1"/>
                </a:solidFill>
                <a:latin typeface="Open Sans"/>
                <a:ea typeface="Open Sans"/>
                <a:cs typeface="Open Sans"/>
                <a:sym typeface="Open Sans"/>
              </a:rPr>
              <a:t>' and miss </a:t>
            </a:r>
            <a:r>
              <a:rPr b="1" lang="en-GB" sz="1200">
                <a:solidFill>
                  <a:schemeClr val="dk1"/>
                </a:solidFill>
                <a:latin typeface="Open Sans"/>
                <a:ea typeface="Open Sans"/>
                <a:cs typeface="Open Sans"/>
                <a:sym typeface="Open Sans"/>
              </a:rPr>
              <a:t>fraudulent</a:t>
            </a:r>
            <a:r>
              <a:rPr b="1" lang="en-GB" sz="1200">
                <a:solidFill>
                  <a:schemeClr val="dk1"/>
                </a:solidFill>
                <a:latin typeface="Open Sans"/>
                <a:ea typeface="Open Sans"/>
                <a:cs typeface="Open Sans"/>
                <a:sym typeface="Open Sans"/>
              </a:rPr>
              <a:t> </a:t>
            </a:r>
            <a:r>
              <a:rPr lang="en-GB" sz="1200">
                <a:solidFill>
                  <a:schemeClr val="dk1"/>
                </a:solidFill>
                <a:latin typeface="Open Sans"/>
                <a:ea typeface="Open Sans"/>
                <a:cs typeface="Open Sans"/>
                <a:sym typeface="Open Sans"/>
              </a:rPr>
              <a:t>cases, which is exactly what we need to detect." </a:t>
            </a:r>
            <a:endParaRPr sz="1200">
              <a:solidFill>
                <a:schemeClr val="dk1"/>
              </a:solidFill>
              <a:latin typeface="Open Sans"/>
              <a:ea typeface="Open Sans"/>
              <a:cs typeface="Open Sans"/>
              <a:sym typeface="Open Sans"/>
            </a:endParaRPr>
          </a:p>
          <a:p>
            <a:pPr indent="0" lvl="0" marL="0" rtl="0" algn="l">
              <a:spcBef>
                <a:spcPts val="1200"/>
              </a:spcBef>
              <a:spcAft>
                <a:spcPts val="0"/>
              </a:spcAft>
              <a:buNone/>
            </a:pPr>
            <a:r>
              <a:t/>
            </a:r>
            <a:endParaRPr sz="1200">
              <a:solidFill>
                <a:schemeClr val="dk1"/>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1200"/>
              </a:spcBef>
              <a:spcAft>
                <a:spcPts val="1200"/>
              </a:spcAft>
              <a:buNone/>
            </a:pPr>
            <a:r>
              <a:rPr lang="en-GB"/>
              <a:t>Class Imbalance Analysis</a:t>
            </a:r>
            <a:endParaRPr/>
          </a:p>
        </p:txBody>
      </p:sp>
      <p:sp>
        <p:nvSpPr>
          <p:cNvPr id="146" name="Google Shape;146;p2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100">
                <a:latin typeface="Arial"/>
                <a:ea typeface="Arial"/>
                <a:cs typeface="Arial"/>
                <a:sym typeface="Arial"/>
              </a:rPr>
              <a:t>Fraud providers have </a:t>
            </a:r>
            <a:r>
              <a:rPr b="1" lang="en-GB" sz="1100">
                <a:latin typeface="Arial"/>
                <a:ea typeface="Arial"/>
                <a:cs typeface="Arial"/>
                <a:sym typeface="Arial"/>
              </a:rPr>
              <a:t>much higher values</a:t>
            </a:r>
            <a:r>
              <a:rPr lang="en-GB" sz="1100">
                <a:latin typeface="Arial"/>
                <a:ea typeface="Arial"/>
                <a:cs typeface="Arial"/>
                <a:sym typeface="Arial"/>
              </a:rPr>
              <a:t> than legitimate ones across all key features.</a:t>
            </a:r>
            <a:endParaRPr sz="1100">
              <a:latin typeface="Arial"/>
              <a:ea typeface="Arial"/>
              <a:cs typeface="Arial"/>
              <a:sym typeface="Arial"/>
            </a:endParaRPr>
          </a:p>
          <a:p>
            <a:pPr indent="0" lvl="0" marL="0" rtl="0" algn="l">
              <a:spcBef>
                <a:spcPts val="1200"/>
              </a:spcBef>
              <a:spcAft>
                <a:spcPts val="0"/>
              </a:spcAft>
              <a:buNone/>
            </a:pPr>
            <a:r>
              <a:rPr lang="en-GB" sz="1100">
                <a:latin typeface="Arial"/>
                <a:ea typeface="Arial"/>
                <a:cs typeface="Arial"/>
                <a:sym typeface="Arial"/>
              </a:rPr>
              <a:t>Differences are </a:t>
            </a:r>
            <a:r>
              <a:rPr b="1" lang="en-GB" sz="1100">
                <a:latin typeface="Arial"/>
                <a:ea typeface="Arial"/>
                <a:cs typeface="Arial"/>
                <a:sym typeface="Arial"/>
              </a:rPr>
              <a:t>statistically significant</a:t>
            </a:r>
            <a:r>
              <a:rPr lang="en-GB" sz="1100">
                <a:latin typeface="Arial"/>
                <a:ea typeface="Arial"/>
                <a:cs typeface="Arial"/>
                <a:sym typeface="Arial"/>
              </a:rPr>
              <a:t> (p &lt; 0.05).</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lang="en-GB" sz="1100">
                <a:latin typeface="Arial"/>
                <a:ea typeface="Arial"/>
                <a:cs typeface="Arial"/>
                <a:sym typeface="Arial"/>
              </a:rPr>
              <a:t>Shows that the dataset is </a:t>
            </a:r>
            <a:r>
              <a:rPr b="1" lang="en-GB" sz="1100">
                <a:latin typeface="Arial"/>
                <a:ea typeface="Arial"/>
                <a:cs typeface="Arial"/>
                <a:sym typeface="Arial"/>
              </a:rPr>
              <a:t>highly imbalanced</a:t>
            </a:r>
            <a:r>
              <a:rPr lang="en-GB" sz="1100">
                <a:latin typeface="Arial"/>
                <a:ea typeface="Arial"/>
                <a:cs typeface="Arial"/>
                <a:sym typeface="Arial"/>
              </a:rPr>
              <a:t> and contains </a:t>
            </a:r>
            <a:r>
              <a:rPr b="1" lang="en-GB" sz="1100">
                <a:latin typeface="Arial"/>
                <a:ea typeface="Arial"/>
                <a:cs typeface="Arial"/>
                <a:sym typeface="Arial"/>
              </a:rPr>
              <a:t>outliers</a:t>
            </a:r>
            <a:r>
              <a:rPr lang="en-GB" sz="1100">
                <a:latin typeface="Arial"/>
                <a:ea typeface="Arial"/>
                <a:cs typeface="Arial"/>
                <a:sym typeface="Arial"/>
              </a:rPr>
              <a:t>.</a:t>
            </a:r>
            <a:br>
              <a:rPr lang="en-GB" sz="1100">
                <a:latin typeface="Arial"/>
                <a:ea typeface="Arial"/>
                <a:cs typeface="Arial"/>
                <a:sym typeface="Arial"/>
              </a:rPr>
            </a:br>
            <a:r>
              <a:rPr lang="en-GB" sz="1100">
                <a:latin typeface="Arial"/>
                <a:ea typeface="Arial"/>
                <a:cs typeface="Arial"/>
                <a:sym typeface="Arial"/>
              </a:rPr>
              <a:t>Highlights the need for a </a:t>
            </a:r>
            <a:r>
              <a:rPr b="1" lang="en-GB" sz="1100">
                <a:latin typeface="Arial"/>
                <a:ea typeface="Arial"/>
                <a:cs typeface="Arial"/>
                <a:sym typeface="Arial"/>
              </a:rPr>
              <a:t>careful class imbalance handling strategy</a:t>
            </a:r>
            <a:r>
              <a:rPr lang="en-GB" sz="1100">
                <a:latin typeface="Arial"/>
                <a:ea typeface="Arial"/>
                <a:cs typeface="Arial"/>
                <a:sym typeface="Arial"/>
              </a:rPr>
              <a:t> (e.g., SMOTE-ENN rather than simple oversampling).</a:t>
            </a:r>
            <a:endParaRPr sz="1100">
              <a:latin typeface="Arial"/>
              <a:ea typeface="Arial"/>
              <a:cs typeface="Arial"/>
              <a:sym typeface="Arial"/>
            </a:endParaRPr>
          </a:p>
          <a:p>
            <a:pPr indent="0" lvl="0" marL="0" rtl="0" algn="l">
              <a:spcBef>
                <a:spcPts val="1200"/>
              </a:spcBef>
              <a:spcAft>
                <a:spcPts val="1200"/>
              </a:spcAft>
              <a:buNone/>
            </a:pPr>
            <a:r>
              <a:t/>
            </a:r>
            <a:endParaRPr/>
          </a:p>
        </p:txBody>
      </p:sp>
      <p:pic>
        <p:nvPicPr>
          <p:cNvPr id="147" name="Google Shape;147;p26"/>
          <p:cNvPicPr preferRelativeResize="0"/>
          <p:nvPr/>
        </p:nvPicPr>
        <p:blipFill>
          <a:blip r:embed="rId3">
            <a:alphaModFix/>
          </a:blip>
          <a:stretch>
            <a:fillRect/>
          </a:stretch>
        </p:blipFill>
        <p:spPr>
          <a:xfrm>
            <a:off x="311700" y="2891450"/>
            <a:ext cx="8232775" cy="1534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Outlier Analysis</a:t>
            </a:r>
            <a:endParaRPr/>
          </a:p>
        </p:txBody>
      </p:sp>
      <p:sp>
        <p:nvSpPr>
          <p:cNvPr id="153" name="Google Shape;153;p27"/>
          <p:cNvSpPr txBox="1"/>
          <p:nvPr>
            <p:ph idx="1" type="body"/>
          </p:nvPr>
        </p:nvSpPr>
        <p:spPr>
          <a:xfrm>
            <a:off x="91000" y="1225225"/>
            <a:ext cx="3199200" cy="33540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935"/>
              <a:buNone/>
            </a:pPr>
            <a:r>
              <a:rPr lang="en-GB" sz="1135">
                <a:latin typeface="Arial"/>
                <a:ea typeface="Arial"/>
                <a:cs typeface="Arial"/>
                <a:sym typeface="Arial"/>
              </a:rPr>
              <a:t>-Some features (e.g., </a:t>
            </a:r>
            <a:r>
              <a:rPr lang="en-GB" sz="1135">
                <a:solidFill>
                  <a:srgbClr val="188038"/>
                </a:solidFill>
                <a:latin typeface="Roboto Mono"/>
                <a:ea typeface="Roboto Mono"/>
                <a:cs typeface="Roboto Mono"/>
                <a:sym typeface="Roboto Mono"/>
              </a:rPr>
              <a:t>total_claim_count</a:t>
            </a:r>
            <a:r>
              <a:rPr lang="en-GB" sz="1135">
                <a:latin typeface="Arial"/>
                <a:ea typeface="Arial"/>
                <a:cs typeface="Arial"/>
                <a:sym typeface="Arial"/>
              </a:rPr>
              <a:t>, </a:t>
            </a:r>
            <a:r>
              <a:rPr lang="en-GB" sz="1135">
                <a:solidFill>
                  <a:srgbClr val="188038"/>
                </a:solidFill>
                <a:latin typeface="Roboto Mono"/>
                <a:ea typeface="Roboto Mono"/>
                <a:cs typeface="Roboto Mono"/>
                <a:sym typeface="Roboto Mono"/>
              </a:rPr>
              <a:t>total_sum_amt</a:t>
            </a:r>
            <a:r>
              <a:rPr lang="en-GB" sz="1135">
                <a:latin typeface="Arial"/>
                <a:ea typeface="Arial"/>
                <a:cs typeface="Arial"/>
                <a:sym typeface="Arial"/>
              </a:rPr>
              <a:t>, </a:t>
            </a:r>
            <a:r>
              <a:rPr lang="en-GB" sz="1135">
                <a:solidFill>
                  <a:srgbClr val="188038"/>
                </a:solidFill>
                <a:latin typeface="Roboto Mono"/>
                <a:ea typeface="Roboto Mono"/>
                <a:cs typeface="Roboto Mono"/>
                <a:sym typeface="Roboto Mono"/>
              </a:rPr>
              <a:t>unique_beneficiaries</a:t>
            </a:r>
            <a:r>
              <a:rPr lang="en-GB" sz="1135">
                <a:latin typeface="Arial"/>
                <a:ea typeface="Arial"/>
                <a:cs typeface="Arial"/>
                <a:sym typeface="Arial"/>
              </a:rPr>
              <a:t>) have </a:t>
            </a:r>
            <a:r>
              <a:rPr b="1" lang="en-GB" sz="1135">
                <a:latin typeface="Arial"/>
                <a:ea typeface="Arial"/>
                <a:cs typeface="Arial"/>
                <a:sym typeface="Arial"/>
              </a:rPr>
              <a:t>extremely high values</a:t>
            </a:r>
            <a:r>
              <a:rPr lang="en-GB" sz="1135">
                <a:latin typeface="Arial"/>
                <a:ea typeface="Arial"/>
                <a:cs typeface="Arial"/>
                <a:sym typeface="Arial"/>
              </a:rPr>
              <a:t> in fraud providers.</a:t>
            </a:r>
            <a:br>
              <a:rPr lang="en-GB" sz="1135">
                <a:latin typeface="Arial"/>
                <a:ea typeface="Arial"/>
                <a:cs typeface="Arial"/>
                <a:sym typeface="Arial"/>
              </a:rPr>
            </a:br>
            <a:endParaRPr sz="1135">
              <a:latin typeface="Arial"/>
              <a:ea typeface="Arial"/>
              <a:cs typeface="Arial"/>
              <a:sym typeface="Arial"/>
            </a:endParaRPr>
          </a:p>
          <a:p>
            <a:pPr indent="0" lvl="0" marL="0" rtl="0" algn="l">
              <a:lnSpc>
                <a:spcPct val="105000"/>
              </a:lnSpc>
              <a:spcBef>
                <a:spcPts val="1200"/>
              </a:spcBef>
              <a:spcAft>
                <a:spcPts val="0"/>
              </a:spcAft>
              <a:buSzPts val="935"/>
              <a:buNone/>
            </a:pPr>
            <a:r>
              <a:rPr lang="en-GB" sz="1135">
                <a:latin typeface="Arial"/>
                <a:ea typeface="Arial"/>
                <a:cs typeface="Arial"/>
                <a:sym typeface="Arial"/>
              </a:rPr>
              <a:t>-Outliers can </a:t>
            </a:r>
            <a:r>
              <a:rPr b="1" lang="en-GB" sz="1135">
                <a:latin typeface="Arial"/>
                <a:ea typeface="Arial"/>
                <a:cs typeface="Arial"/>
                <a:sym typeface="Arial"/>
              </a:rPr>
              <a:t>distort oversampling methods</a:t>
            </a:r>
            <a:r>
              <a:rPr lang="en-GB" sz="1135">
                <a:latin typeface="Arial"/>
                <a:ea typeface="Arial"/>
                <a:cs typeface="Arial"/>
                <a:sym typeface="Arial"/>
              </a:rPr>
              <a:t> like SMOTE.</a:t>
            </a:r>
            <a:br>
              <a:rPr lang="en-GB" sz="1135">
                <a:latin typeface="Arial"/>
                <a:ea typeface="Arial"/>
                <a:cs typeface="Arial"/>
                <a:sym typeface="Arial"/>
              </a:rPr>
            </a:br>
            <a:endParaRPr sz="1135">
              <a:latin typeface="Arial"/>
              <a:ea typeface="Arial"/>
              <a:cs typeface="Arial"/>
              <a:sym typeface="Arial"/>
            </a:endParaRPr>
          </a:p>
          <a:p>
            <a:pPr indent="0" lvl="0" marL="0" rtl="0" algn="l">
              <a:lnSpc>
                <a:spcPct val="105000"/>
              </a:lnSpc>
              <a:spcBef>
                <a:spcPts val="1200"/>
              </a:spcBef>
              <a:spcAft>
                <a:spcPts val="0"/>
              </a:spcAft>
              <a:buSzPts val="935"/>
              <a:buNone/>
            </a:pPr>
            <a:r>
              <a:rPr b="1" lang="en-GB" sz="1135">
                <a:latin typeface="Arial"/>
                <a:ea typeface="Arial"/>
                <a:cs typeface="Arial"/>
                <a:sym typeface="Arial"/>
              </a:rPr>
              <a:t>-Visualization:</a:t>
            </a:r>
            <a:r>
              <a:rPr lang="en-GB" sz="1135">
                <a:latin typeface="Arial"/>
                <a:ea typeface="Arial"/>
                <a:cs typeface="Arial"/>
                <a:sym typeface="Arial"/>
              </a:rPr>
              <a:t> Box plots show that fraud providers often exceed the upper whiskers of legitimate ones.</a:t>
            </a:r>
            <a:br>
              <a:rPr lang="en-GB" sz="1135">
                <a:latin typeface="Arial"/>
                <a:ea typeface="Arial"/>
                <a:cs typeface="Arial"/>
                <a:sym typeface="Arial"/>
              </a:rPr>
            </a:br>
            <a:endParaRPr sz="1135">
              <a:latin typeface="Arial"/>
              <a:ea typeface="Arial"/>
              <a:cs typeface="Arial"/>
              <a:sym typeface="Arial"/>
            </a:endParaRPr>
          </a:p>
          <a:p>
            <a:pPr indent="0" lvl="0" marL="0" rtl="0" algn="l">
              <a:lnSpc>
                <a:spcPct val="105000"/>
              </a:lnSpc>
              <a:spcBef>
                <a:spcPts val="1200"/>
              </a:spcBef>
              <a:spcAft>
                <a:spcPts val="0"/>
              </a:spcAft>
              <a:buSzPts val="935"/>
              <a:buNone/>
            </a:pPr>
            <a:r>
              <a:rPr lang="en-GB" sz="1135">
                <a:latin typeface="Arial"/>
                <a:ea typeface="Arial"/>
                <a:cs typeface="Arial"/>
                <a:sym typeface="Arial"/>
              </a:rPr>
              <a:t>-Conclusion: </a:t>
            </a:r>
            <a:r>
              <a:rPr b="1" lang="en-GB" sz="1135">
                <a:latin typeface="Arial"/>
                <a:ea typeface="Arial"/>
                <a:cs typeface="Arial"/>
                <a:sym typeface="Arial"/>
              </a:rPr>
              <a:t>Outlier-aware strategies</a:t>
            </a:r>
            <a:r>
              <a:rPr lang="en-GB" sz="1135">
                <a:latin typeface="Arial"/>
                <a:ea typeface="Arial"/>
                <a:cs typeface="Arial"/>
                <a:sym typeface="Arial"/>
              </a:rPr>
              <a:t> (like SMOTE-ENN) are preferable for balancing classes.</a:t>
            </a:r>
            <a:br>
              <a:rPr lang="en-GB" sz="1135">
                <a:latin typeface="Arial"/>
                <a:ea typeface="Arial"/>
                <a:cs typeface="Arial"/>
                <a:sym typeface="Arial"/>
              </a:rPr>
            </a:br>
            <a:endParaRPr sz="1135">
              <a:latin typeface="Arial"/>
              <a:ea typeface="Arial"/>
              <a:cs typeface="Arial"/>
              <a:sym typeface="Arial"/>
            </a:endParaRPr>
          </a:p>
          <a:p>
            <a:pPr indent="0" lvl="0" marL="0" rtl="0" algn="l">
              <a:lnSpc>
                <a:spcPct val="105000"/>
              </a:lnSpc>
              <a:spcBef>
                <a:spcPts val="1200"/>
              </a:spcBef>
              <a:spcAft>
                <a:spcPts val="1200"/>
              </a:spcAft>
              <a:buSzPts val="935"/>
              <a:buNone/>
            </a:pPr>
            <a:r>
              <a:t/>
            </a:r>
            <a:endParaRPr sz="1729"/>
          </a:p>
        </p:txBody>
      </p:sp>
      <p:pic>
        <p:nvPicPr>
          <p:cNvPr id="154" name="Google Shape;154;p27" title="4a2066a5-77bf-4186-b974-48ae793cfd50.png"/>
          <p:cNvPicPr preferRelativeResize="0"/>
          <p:nvPr/>
        </p:nvPicPr>
        <p:blipFill>
          <a:blip r:embed="rId3">
            <a:alphaModFix/>
          </a:blip>
          <a:stretch>
            <a:fillRect/>
          </a:stretch>
        </p:blipFill>
        <p:spPr>
          <a:xfrm>
            <a:off x="3392250" y="1190375"/>
            <a:ext cx="5440050" cy="36132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Approaches to Handle Class Imbalance</a:t>
            </a:r>
            <a:endParaRPr/>
          </a:p>
        </p:txBody>
      </p:sp>
      <p:sp>
        <p:nvSpPr>
          <p:cNvPr id="160" name="Google Shape;160;p28"/>
          <p:cNvSpPr txBox="1"/>
          <p:nvPr/>
        </p:nvSpPr>
        <p:spPr>
          <a:xfrm>
            <a:off x="406450" y="1233775"/>
            <a:ext cx="8262000" cy="377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GB" sz="1200">
                <a:solidFill>
                  <a:schemeClr val="dk1"/>
                </a:solidFill>
              </a:rPr>
              <a:t>1. Class Weighting</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GB" sz="1200">
                <a:solidFill>
                  <a:schemeClr val="dk1"/>
                </a:solidFill>
              </a:rPr>
              <a:t>Increases penalty for misclassifying the minority class (fraud)</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GB" sz="1200">
                <a:solidFill>
                  <a:schemeClr val="dk1"/>
                </a:solidFill>
              </a:rPr>
              <a:t>Simple to implement in most models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Limitation:</a:t>
            </a:r>
            <a:r>
              <a:rPr lang="en-GB" sz="1200">
                <a:solidFill>
                  <a:schemeClr val="dk1"/>
                </a:solidFill>
              </a:rPr>
              <a:t> Unstable with extreme imbalance (like in our data) → low performance in tests</a:t>
            </a:r>
            <a:br>
              <a:rPr lang="en-GB" sz="1200">
                <a:solidFill>
                  <a:schemeClr val="dk1"/>
                </a:solidFill>
              </a:rPr>
            </a:b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200">
                <a:solidFill>
                  <a:schemeClr val="dk1"/>
                </a:solidFill>
              </a:rPr>
              <a:t>2. Oversampling</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GB" sz="1200">
                <a:solidFill>
                  <a:schemeClr val="dk1"/>
                </a:solidFill>
              </a:rPr>
              <a:t>Random Oversampling:</a:t>
            </a:r>
            <a:r>
              <a:rPr lang="en-GB" sz="1200">
                <a:solidFill>
                  <a:schemeClr val="dk1"/>
                </a:solidFill>
              </a:rPr>
              <a:t> duplicates minority samples → risk of overfitting</a:t>
            </a:r>
            <a:br>
              <a:rPr lang="en-GB" sz="1200">
                <a:solidFill>
                  <a:schemeClr val="dk1"/>
                </a:solidFill>
              </a:rPr>
            </a:b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SMOTE (Synthetic Minority Oversampling Technique):</a:t>
            </a:r>
            <a:r>
              <a:rPr lang="en-GB" sz="1200">
                <a:solidFill>
                  <a:schemeClr val="dk1"/>
                </a:solidFill>
              </a:rPr>
              <a:t> generates synthetic samples</a:t>
            </a:r>
            <a:br>
              <a:rPr lang="en-GB" sz="1200">
                <a:solidFill>
                  <a:schemeClr val="dk1"/>
                </a:solidFill>
              </a:rPr>
            </a:b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GB" sz="1200">
                <a:solidFill>
                  <a:schemeClr val="dk1"/>
                </a:solidFill>
              </a:rPr>
              <a:t>Interpolates between minority neighbors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b="1" lang="en-GB" sz="1200">
                <a:solidFill>
                  <a:schemeClr val="dk1"/>
                </a:solidFill>
              </a:rPr>
              <a:t>Limitation:</a:t>
            </a:r>
            <a:r>
              <a:rPr lang="en-GB" sz="1200">
                <a:solidFill>
                  <a:schemeClr val="dk1"/>
                </a:solidFill>
              </a:rPr>
              <a:t> Outliers in fraud data can distort boundaries → may create unrealistic samples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GB" sz="1200">
                <a:solidFill>
                  <a:schemeClr val="dk1"/>
                </a:solidFill>
              </a:rPr>
              <a:t>In our dataset, SMOTE without cleaning led to unstable results due to extreme fraud outliers</a:t>
            </a:r>
            <a:endParaRPr sz="1200">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Approaches to Handle Class Imbalance</a:t>
            </a:r>
            <a:endParaRPr/>
          </a:p>
        </p:txBody>
      </p:sp>
      <p:sp>
        <p:nvSpPr>
          <p:cNvPr id="166" name="Google Shape;166;p2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018"/>
              <a:buFont typeface="Arial"/>
              <a:buNone/>
            </a:pPr>
            <a:r>
              <a:rPr b="1" lang="en-GB" sz="1217">
                <a:latin typeface="Arial"/>
                <a:ea typeface="Arial"/>
                <a:cs typeface="Arial"/>
                <a:sym typeface="Arial"/>
              </a:rPr>
              <a:t>3. Undersampling</a:t>
            </a:r>
            <a:endParaRPr b="1" sz="1217">
              <a:latin typeface="Arial"/>
              <a:ea typeface="Arial"/>
              <a:cs typeface="Arial"/>
              <a:sym typeface="Arial"/>
            </a:endParaRPr>
          </a:p>
          <a:p>
            <a:pPr indent="-305911" lvl="0" marL="457200" rtl="0" algn="l">
              <a:lnSpc>
                <a:spcPct val="95000"/>
              </a:lnSpc>
              <a:spcBef>
                <a:spcPts val="1200"/>
              </a:spcBef>
              <a:spcAft>
                <a:spcPts val="0"/>
              </a:spcAft>
              <a:buSzPts val="1218"/>
              <a:buFont typeface="Arial"/>
              <a:buChar char="●"/>
            </a:pPr>
            <a:r>
              <a:rPr lang="en-GB" sz="1217">
                <a:latin typeface="Arial"/>
                <a:ea typeface="Arial"/>
                <a:cs typeface="Arial"/>
                <a:sym typeface="Arial"/>
              </a:rPr>
              <a:t>Removes majority class samples to balance dataset</a:t>
            </a:r>
            <a:br>
              <a:rPr lang="en-GB" sz="1217">
                <a:latin typeface="Arial"/>
                <a:ea typeface="Arial"/>
                <a:cs typeface="Arial"/>
                <a:sym typeface="Arial"/>
              </a:rPr>
            </a:br>
            <a:endParaRPr sz="1217">
              <a:latin typeface="Arial"/>
              <a:ea typeface="Arial"/>
              <a:cs typeface="Arial"/>
              <a:sym typeface="Arial"/>
            </a:endParaRPr>
          </a:p>
          <a:p>
            <a:pPr indent="-305911" lvl="0" marL="457200" rtl="0" algn="l">
              <a:lnSpc>
                <a:spcPct val="95000"/>
              </a:lnSpc>
              <a:spcBef>
                <a:spcPts val="0"/>
              </a:spcBef>
              <a:spcAft>
                <a:spcPts val="0"/>
              </a:spcAft>
              <a:buSzPts val="1218"/>
              <a:buFont typeface="Arial"/>
              <a:buChar char="●"/>
            </a:pPr>
            <a:r>
              <a:rPr b="1" lang="en-GB" sz="1217">
                <a:latin typeface="Arial"/>
                <a:ea typeface="Arial"/>
                <a:cs typeface="Arial"/>
                <a:sym typeface="Arial"/>
              </a:rPr>
              <a:t>Risk:</a:t>
            </a:r>
            <a:r>
              <a:rPr lang="en-GB" sz="1217">
                <a:latin typeface="Arial"/>
                <a:ea typeface="Arial"/>
                <a:cs typeface="Arial"/>
                <a:sym typeface="Arial"/>
              </a:rPr>
              <a:t> loss of potentially important data → reduces model learning capacity</a:t>
            </a:r>
            <a:br>
              <a:rPr lang="en-GB" sz="1217">
                <a:latin typeface="Arial"/>
                <a:ea typeface="Arial"/>
                <a:cs typeface="Arial"/>
                <a:sym typeface="Arial"/>
              </a:rPr>
            </a:br>
            <a:endParaRPr sz="1217">
              <a:latin typeface="Arial"/>
              <a:ea typeface="Arial"/>
              <a:cs typeface="Arial"/>
              <a:sym typeface="Arial"/>
            </a:endParaRPr>
          </a:p>
          <a:p>
            <a:pPr indent="0" lvl="0" marL="0" rtl="0" algn="l">
              <a:lnSpc>
                <a:spcPct val="95000"/>
              </a:lnSpc>
              <a:spcBef>
                <a:spcPts val="1200"/>
              </a:spcBef>
              <a:spcAft>
                <a:spcPts val="0"/>
              </a:spcAft>
              <a:buSzPts val="1018"/>
              <a:buNone/>
            </a:pPr>
            <a:r>
              <a:rPr b="1" lang="en-GB" sz="1217">
                <a:latin typeface="Arial"/>
                <a:ea typeface="Arial"/>
                <a:cs typeface="Arial"/>
                <a:sym typeface="Arial"/>
              </a:rPr>
              <a:t>4. Hybrid Methods</a:t>
            </a:r>
            <a:r>
              <a:rPr b="1" lang="en-GB" sz="1217">
                <a:latin typeface="Arial"/>
                <a:ea typeface="Arial"/>
                <a:cs typeface="Arial"/>
                <a:sym typeface="Arial"/>
              </a:rPr>
              <a:t> </a:t>
            </a:r>
            <a:endParaRPr b="1" sz="1217">
              <a:latin typeface="Arial"/>
              <a:ea typeface="Arial"/>
              <a:cs typeface="Arial"/>
              <a:sym typeface="Arial"/>
            </a:endParaRPr>
          </a:p>
          <a:p>
            <a:pPr indent="-305911" lvl="0" marL="457200" rtl="0" algn="l">
              <a:lnSpc>
                <a:spcPct val="95000"/>
              </a:lnSpc>
              <a:spcBef>
                <a:spcPts val="1200"/>
              </a:spcBef>
              <a:spcAft>
                <a:spcPts val="0"/>
              </a:spcAft>
              <a:buSzPts val="1218"/>
              <a:buFont typeface="Arial"/>
              <a:buChar char="●"/>
            </a:pPr>
            <a:r>
              <a:rPr lang="en-GB" sz="1217">
                <a:latin typeface="Arial"/>
                <a:ea typeface="Arial"/>
                <a:cs typeface="Arial"/>
                <a:sym typeface="Arial"/>
              </a:rPr>
              <a:t>Combines </a:t>
            </a:r>
            <a:r>
              <a:rPr b="1" lang="en-GB" sz="1217">
                <a:latin typeface="Arial"/>
                <a:ea typeface="Arial"/>
                <a:cs typeface="Arial"/>
                <a:sym typeface="Arial"/>
              </a:rPr>
              <a:t>SMOTE + ENN</a:t>
            </a:r>
            <a:r>
              <a:rPr lang="en-GB" sz="1217">
                <a:latin typeface="Arial"/>
                <a:ea typeface="Arial"/>
                <a:cs typeface="Arial"/>
                <a:sym typeface="Arial"/>
              </a:rPr>
              <a:t>: Oversample minority, clean noise from majority</a:t>
            </a:r>
            <a:br>
              <a:rPr lang="en-GB" sz="1217">
                <a:latin typeface="Arial"/>
                <a:ea typeface="Arial"/>
                <a:cs typeface="Arial"/>
                <a:sym typeface="Arial"/>
              </a:rPr>
            </a:br>
            <a:endParaRPr sz="1217">
              <a:latin typeface="Arial"/>
              <a:ea typeface="Arial"/>
              <a:cs typeface="Arial"/>
              <a:sym typeface="Arial"/>
            </a:endParaRPr>
          </a:p>
          <a:p>
            <a:pPr indent="-305911" lvl="0" marL="457200" rtl="0" algn="l">
              <a:lnSpc>
                <a:spcPct val="95000"/>
              </a:lnSpc>
              <a:spcBef>
                <a:spcPts val="0"/>
              </a:spcBef>
              <a:spcAft>
                <a:spcPts val="0"/>
              </a:spcAft>
              <a:buSzPts val="1218"/>
              <a:buFont typeface="Arial"/>
              <a:buChar char="●"/>
            </a:pPr>
            <a:r>
              <a:rPr b="1" lang="en-GB" sz="1217">
                <a:latin typeface="Arial"/>
                <a:ea typeface="Arial"/>
                <a:cs typeface="Arial"/>
                <a:sym typeface="Arial"/>
              </a:rPr>
              <a:t>Benefits for our dataset:</a:t>
            </a:r>
            <a:br>
              <a:rPr b="1" lang="en-GB" sz="1217">
                <a:latin typeface="Arial"/>
                <a:ea typeface="Arial"/>
                <a:cs typeface="Arial"/>
                <a:sym typeface="Arial"/>
              </a:rPr>
            </a:br>
            <a:endParaRPr b="1" sz="1217">
              <a:latin typeface="Arial"/>
              <a:ea typeface="Arial"/>
              <a:cs typeface="Arial"/>
              <a:sym typeface="Arial"/>
            </a:endParaRPr>
          </a:p>
          <a:p>
            <a:pPr indent="-305911" lvl="1" marL="914400" rtl="0" algn="l">
              <a:lnSpc>
                <a:spcPct val="95000"/>
              </a:lnSpc>
              <a:spcBef>
                <a:spcPts val="0"/>
              </a:spcBef>
              <a:spcAft>
                <a:spcPts val="0"/>
              </a:spcAft>
              <a:buSzPts val="1218"/>
              <a:buFont typeface="Arial"/>
              <a:buChar char="○"/>
            </a:pPr>
            <a:r>
              <a:rPr lang="en-GB" sz="1217">
                <a:latin typeface="Arial"/>
                <a:ea typeface="Arial"/>
                <a:cs typeface="Arial"/>
                <a:sym typeface="Arial"/>
              </a:rPr>
              <a:t>Handles extreme outliers in fraud providers</a:t>
            </a:r>
            <a:br>
              <a:rPr lang="en-GB" sz="1217">
                <a:latin typeface="Arial"/>
                <a:ea typeface="Arial"/>
                <a:cs typeface="Arial"/>
                <a:sym typeface="Arial"/>
              </a:rPr>
            </a:br>
            <a:endParaRPr sz="1217">
              <a:latin typeface="Arial"/>
              <a:ea typeface="Arial"/>
              <a:cs typeface="Arial"/>
              <a:sym typeface="Arial"/>
            </a:endParaRPr>
          </a:p>
          <a:p>
            <a:pPr indent="-305911" lvl="1" marL="914400" rtl="0" algn="l">
              <a:lnSpc>
                <a:spcPct val="95000"/>
              </a:lnSpc>
              <a:spcBef>
                <a:spcPts val="0"/>
              </a:spcBef>
              <a:spcAft>
                <a:spcPts val="0"/>
              </a:spcAft>
              <a:buSzPts val="1218"/>
              <a:buFont typeface="Arial"/>
              <a:buChar char="○"/>
            </a:pPr>
            <a:r>
              <a:rPr lang="en-GB" sz="1217">
                <a:latin typeface="Arial"/>
                <a:ea typeface="Arial"/>
                <a:cs typeface="Arial"/>
                <a:sym typeface="Arial"/>
              </a:rPr>
              <a:t>Produces cleaner, more reliable decision boundaries</a:t>
            </a:r>
            <a:br>
              <a:rPr lang="en-GB" sz="1217">
                <a:latin typeface="Arial"/>
                <a:ea typeface="Arial"/>
                <a:cs typeface="Arial"/>
                <a:sym typeface="Arial"/>
              </a:rPr>
            </a:br>
            <a:endParaRPr sz="1217">
              <a:latin typeface="Arial"/>
              <a:ea typeface="Arial"/>
              <a:cs typeface="Arial"/>
              <a:sym typeface="Arial"/>
            </a:endParaRPr>
          </a:p>
          <a:p>
            <a:pPr indent="-305911" lvl="1" marL="914400" rtl="0" algn="l">
              <a:lnSpc>
                <a:spcPct val="95000"/>
              </a:lnSpc>
              <a:spcBef>
                <a:spcPts val="0"/>
              </a:spcBef>
              <a:spcAft>
                <a:spcPts val="0"/>
              </a:spcAft>
              <a:buSzPts val="1218"/>
              <a:buFont typeface="Arial"/>
              <a:buChar char="○"/>
            </a:pPr>
            <a:r>
              <a:rPr lang="en-GB" sz="1217">
                <a:latin typeface="Arial"/>
                <a:ea typeface="Arial"/>
                <a:cs typeface="Arial"/>
                <a:sym typeface="Arial"/>
              </a:rPr>
              <a:t>Shown in our analysis to improve precision, recall, and F1-score significantly</a:t>
            </a:r>
            <a:endParaRPr sz="1217">
              <a:latin typeface="Arial"/>
              <a:ea typeface="Arial"/>
              <a:cs typeface="Arial"/>
              <a:sym typeface="Arial"/>
            </a:endParaRPr>
          </a:p>
          <a:p>
            <a:pPr indent="0" lvl="0" marL="0" rtl="0" algn="l">
              <a:lnSpc>
                <a:spcPct val="95000"/>
              </a:lnSpc>
              <a:spcBef>
                <a:spcPts val="1200"/>
              </a:spcBef>
              <a:spcAft>
                <a:spcPts val="1200"/>
              </a:spcAft>
              <a:buSzPts val="1018"/>
              <a:buNone/>
            </a:pPr>
            <a:r>
              <a:t/>
            </a:r>
            <a:endParaRPr sz="1865"/>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lnSpc>
                <a:spcPct val="115000"/>
              </a:lnSpc>
              <a:spcBef>
                <a:spcPts val="1400"/>
              </a:spcBef>
              <a:spcAft>
                <a:spcPts val="400"/>
              </a:spcAft>
              <a:buSzPts val="990"/>
              <a:buNone/>
            </a:pPr>
            <a:r>
              <a:rPr lang="en-GB" sz="4090"/>
              <a:t>Why We Used SMOTEENN</a:t>
            </a:r>
            <a:endParaRPr sz="4090"/>
          </a:p>
        </p:txBody>
      </p:sp>
      <p:sp>
        <p:nvSpPr>
          <p:cNvPr id="172" name="Google Shape;172;p3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935"/>
              <a:buFont typeface="Arial"/>
              <a:buNone/>
            </a:pPr>
            <a:r>
              <a:rPr b="1" lang="en-GB" sz="1135">
                <a:latin typeface="Arial"/>
                <a:ea typeface="Arial"/>
                <a:cs typeface="Arial"/>
                <a:sym typeface="Arial"/>
              </a:rPr>
              <a:t>1. Data Characteristics</a:t>
            </a:r>
            <a:endParaRPr b="1" sz="1135">
              <a:latin typeface="Arial"/>
              <a:ea typeface="Arial"/>
              <a:cs typeface="Arial"/>
              <a:sym typeface="Arial"/>
            </a:endParaRPr>
          </a:p>
          <a:p>
            <a:pPr indent="-300672" lvl="0" marL="457200" rtl="0" algn="l">
              <a:lnSpc>
                <a:spcPct val="95000"/>
              </a:lnSpc>
              <a:spcBef>
                <a:spcPts val="1200"/>
              </a:spcBef>
              <a:spcAft>
                <a:spcPts val="0"/>
              </a:spcAft>
              <a:buSzPts val="1135"/>
              <a:buFont typeface="Arial"/>
              <a:buChar char="●"/>
            </a:pPr>
            <a:r>
              <a:rPr lang="en-GB" sz="1135">
                <a:latin typeface="Arial"/>
                <a:ea typeface="Arial"/>
                <a:cs typeface="Arial"/>
                <a:sym typeface="Arial"/>
              </a:rPr>
              <a:t>Severe </a:t>
            </a:r>
            <a:r>
              <a:rPr b="1" lang="en-GB" sz="1135">
                <a:latin typeface="Arial"/>
                <a:ea typeface="Arial"/>
                <a:cs typeface="Arial"/>
                <a:sym typeface="Arial"/>
              </a:rPr>
              <a:t>class imbalance</a:t>
            </a:r>
            <a:r>
              <a:rPr lang="en-GB" sz="1135">
                <a:latin typeface="Arial"/>
                <a:ea typeface="Arial"/>
                <a:cs typeface="Arial"/>
                <a:sym typeface="Arial"/>
              </a:rPr>
              <a:t>: minority (fraud) &lt;&lt; majority (legit)</a:t>
            </a:r>
            <a:br>
              <a:rPr lang="en-GB" sz="1135">
                <a:latin typeface="Arial"/>
                <a:ea typeface="Arial"/>
                <a:cs typeface="Arial"/>
                <a:sym typeface="Arial"/>
              </a:rPr>
            </a:br>
            <a:endParaRPr sz="1135">
              <a:latin typeface="Arial"/>
              <a:ea typeface="Arial"/>
              <a:cs typeface="Arial"/>
              <a:sym typeface="Arial"/>
            </a:endParaRPr>
          </a:p>
          <a:p>
            <a:pPr indent="-300672" lvl="0" marL="457200" rtl="0" algn="l">
              <a:lnSpc>
                <a:spcPct val="95000"/>
              </a:lnSpc>
              <a:spcBef>
                <a:spcPts val="0"/>
              </a:spcBef>
              <a:spcAft>
                <a:spcPts val="0"/>
              </a:spcAft>
              <a:buSzPts val="1135"/>
              <a:buFont typeface="Arial"/>
              <a:buChar char="●"/>
            </a:pPr>
            <a:r>
              <a:rPr lang="en-GB" sz="1135">
                <a:latin typeface="Arial"/>
                <a:ea typeface="Arial"/>
                <a:cs typeface="Arial"/>
                <a:sym typeface="Arial"/>
              </a:rPr>
              <a:t>Presence of </a:t>
            </a:r>
            <a:r>
              <a:rPr b="1" lang="en-GB" sz="1135">
                <a:latin typeface="Arial"/>
                <a:ea typeface="Arial"/>
                <a:cs typeface="Arial"/>
                <a:sym typeface="Arial"/>
              </a:rPr>
              <a:t>extreme outliers</a:t>
            </a:r>
            <a:r>
              <a:rPr lang="en-GB" sz="1135">
                <a:latin typeface="Arial"/>
                <a:ea typeface="Arial"/>
                <a:cs typeface="Arial"/>
                <a:sym typeface="Arial"/>
              </a:rPr>
              <a:t> in key features (e.g., </a:t>
            </a:r>
            <a:r>
              <a:rPr lang="en-GB" sz="1135">
                <a:solidFill>
                  <a:srgbClr val="188038"/>
                </a:solidFill>
                <a:latin typeface="Roboto Mono"/>
                <a:ea typeface="Roboto Mono"/>
                <a:cs typeface="Roboto Mono"/>
                <a:sym typeface="Roboto Mono"/>
              </a:rPr>
              <a:t>total_sum_amt</a:t>
            </a:r>
            <a:r>
              <a:rPr lang="en-GB" sz="1135">
                <a:latin typeface="Arial"/>
                <a:ea typeface="Arial"/>
                <a:cs typeface="Arial"/>
                <a:sym typeface="Arial"/>
              </a:rPr>
              <a:t>, </a:t>
            </a:r>
            <a:r>
              <a:rPr lang="en-GB" sz="1135">
                <a:solidFill>
                  <a:srgbClr val="188038"/>
                </a:solidFill>
                <a:latin typeface="Roboto Mono"/>
                <a:ea typeface="Roboto Mono"/>
                <a:cs typeface="Roboto Mono"/>
                <a:sym typeface="Roboto Mono"/>
              </a:rPr>
              <a:t>total_claim_count</a:t>
            </a:r>
            <a:r>
              <a:rPr lang="en-GB" sz="1135">
                <a:latin typeface="Arial"/>
                <a:ea typeface="Arial"/>
                <a:cs typeface="Arial"/>
                <a:sym typeface="Arial"/>
              </a:rPr>
              <a:t>, </a:t>
            </a:r>
            <a:r>
              <a:rPr lang="en-GB" sz="1135">
                <a:solidFill>
                  <a:srgbClr val="188038"/>
                </a:solidFill>
                <a:latin typeface="Roboto Mono"/>
                <a:ea typeface="Roboto Mono"/>
                <a:cs typeface="Roboto Mono"/>
                <a:sym typeface="Roboto Mono"/>
              </a:rPr>
              <a:t>unique_beneficiaries</a:t>
            </a:r>
            <a:r>
              <a:rPr lang="en-GB" sz="1135">
                <a:latin typeface="Arial"/>
                <a:ea typeface="Arial"/>
                <a:cs typeface="Arial"/>
                <a:sym typeface="Arial"/>
              </a:rPr>
              <a:t>)</a:t>
            </a:r>
            <a:br>
              <a:rPr lang="en-GB" sz="1135">
                <a:latin typeface="Arial"/>
                <a:ea typeface="Arial"/>
                <a:cs typeface="Arial"/>
                <a:sym typeface="Arial"/>
              </a:rPr>
            </a:br>
            <a:endParaRPr sz="11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GB" sz="1135">
                <a:latin typeface="Arial"/>
                <a:ea typeface="Arial"/>
                <a:cs typeface="Arial"/>
                <a:sym typeface="Arial"/>
              </a:rPr>
              <a:t>2. Why Not Class Weighting</a:t>
            </a:r>
            <a:endParaRPr b="1" sz="1135">
              <a:latin typeface="Arial"/>
              <a:ea typeface="Arial"/>
              <a:cs typeface="Arial"/>
              <a:sym typeface="Arial"/>
            </a:endParaRPr>
          </a:p>
          <a:p>
            <a:pPr indent="-300672" lvl="0" marL="457200" rtl="0" algn="l">
              <a:lnSpc>
                <a:spcPct val="95000"/>
              </a:lnSpc>
              <a:spcBef>
                <a:spcPts val="1200"/>
              </a:spcBef>
              <a:spcAft>
                <a:spcPts val="0"/>
              </a:spcAft>
              <a:buSzPts val="1135"/>
              <a:buFont typeface="Arial"/>
              <a:buChar char="●"/>
            </a:pPr>
            <a:r>
              <a:rPr lang="en-GB" sz="1135">
                <a:latin typeface="Arial"/>
                <a:ea typeface="Arial"/>
                <a:cs typeface="Arial"/>
                <a:sym typeface="Arial"/>
              </a:rPr>
              <a:t>Unstable with severe imbalance</a:t>
            </a:r>
            <a:br>
              <a:rPr lang="en-GB" sz="1135">
                <a:latin typeface="Arial"/>
                <a:ea typeface="Arial"/>
                <a:cs typeface="Arial"/>
                <a:sym typeface="Arial"/>
              </a:rPr>
            </a:br>
            <a:endParaRPr sz="1135">
              <a:latin typeface="Arial"/>
              <a:ea typeface="Arial"/>
              <a:cs typeface="Arial"/>
              <a:sym typeface="Arial"/>
            </a:endParaRPr>
          </a:p>
          <a:p>
            <a:pPr indent="-300672" lvl="0" marL="457200" rtl="0" algn="l">
              <a:lnSpc>
                <a:spcPct val="95000"/>
              </a:lnSpc>
              <a:spcBef>
                <a:spcPts val="0"/>
              </a:spcBef>
              <a:spcAft>
                <a:spcPts val="0"/>
              </a:spcAft>
              <a:buSzPts val="1135"/>
              <a:buFont typeface="Arial"/>
              <a:buChar char="●"/>
            </a:pPr>
            <a:r>
              <a:rPr lang="en-GB" sz="1135">
                <a:latin typeface="Arial"/>
                <a:ea typeface="Arial"/>
                <a:cs typeface="Arial"/>
                <a:sym typeface="Arial"/>
              </a:rPr>
              <a:t>Poor performance in metrics like F1-score, Precision, Recall</a:t>
            </a:r>
            <a:br>
              <a:rPr lang="en-GB" sz="1135">
                <a:latin typeface="Arial"/>
                <a:ea typeface="Arial"/>
                <a:cs typeface="Arial"/>
                <a:sym typeface="Arial"/>
              </a:rPr>
            </a:br>
            <a:endParaRPr sz="1135">
              <a:latin typeface="Arial"/>
              <a:ea typeface="Arial"/>
              <a:cs typeface="Arial"/>
              <a:sym typeface="Arial"/>
            </a:endParaRPr>
          </a:p>
          <a:p>
            <a:pPr indent="0" lvl="0" marL="0" rtl="0" algn="l">
              <a:lnSpc>
                <a:spcPct val="95000"/>
              </a:lnSpc>
              <a:spcBef>
                <a:spcPts val="1200"/>
              </a:spcBef>
              <a:spcAft>
                <a:spcPts val="0"/>
              </a:spcAft>
              <a:buClr>
                <a:schemeClr val="dk1"/>
              </a:buClr>
              <a:buSzPts val="935"/>
              <a:buFont typeface="Arial"/>
              <a:buNone/>
            </a:pPr>
            <a:r>
              <a:rPr b="1" lang="en-GB" sz="1135">
                <a:latin typeface="Arial"/>
                <a:ea typeface="Arial"/>
                <a:cs typeface="Arial"/>
                <a:sym typeface="Arial"/>
              </a:rPr>
              <a:t>3. Why Not Simple Oversampling</a:t>
            </a:r>
            <a:endParaRPr b="1" sz="1135">
              <a:latin typeface="Arial"/>
              <a:ea typeface="Arial"/>
              <a:cs typeface="Arial"/>
              <a:sym typeface="Arial"/>
            </a:endParaRPr>
          </a:p>
          <a:p>
            <a:pPr indent="-300672" lvl="0" marL="457200" rtl="0" algn="l">
              <a:lnSpc>
                <a:spcPct val="95000"/>
              </a:lnSpc>
              <a:spcBef>
                <a:spcPts val="1200"/>
              </a:spcBef>
              <a:spcAft>
                <a:spcPts val="0"/>
              </a:spcAft>
              <a:buSzPts val="1135"/>
              <a:buFont typeface="Arial"/>
              <a:buChar char="●"/>
            </a:pPr>
            <a:r>
              <a:rPr lang="en-GB" sz="1135">
                <a:latin typeface="Arial"/>
                <a:ea typeface="Arial"/>
                <a:cs typeface="Arial"/>
                <a:sym typeface="Arial"/>
              </a:rPr>
              <a:t>Random oversampling → duplicates → risk of </a:t>
            </a:r>
            <a:r>
              <a:rPr b="1" lang="en-GB" sz="1135">
                <a:latin typeface="Arial"/>
                <a:ea typeface="Arial"/>
                <a:cs typeface="Arial"/>
                <a:sym typeface="Arial"/>
              </a:rPr>
              <a:t>overfitting</a:t>
            </a:r>
            <a:br>
              <a:rPr b="1" lang="en-GB" sz="1135">
                <a:latin typeface="Arial"/>
                <a:ea typeface="Arial"/>
                <a:cs typeface="Arial"/>
                <a:sym typeface="Arial"/>
              </a:rPr>
            </a:br>
            <a:endParaRPr b="1" sz="1135">
              <a:latin typeface="Arial"/>
              <a:ea typeface="Arial"/>
              <a:cs typeface="Arial"/>
              <a:sym typeface="Arial"/>
            </a:endParaRPr>
          </a:p>
          <a:p>
            <a:pPr indent="-300672" lvl="0" marL="457200" rtl="0" algn="l">
              <a:lnSpc>
                <a:spcPct val="95000"/>
              </a:lnSpc>
              <a:spcBef>
                <a:spcPts val="0"/>
              </a:spcBef>
              <a:spcAft>
                <a:spcPts val="0"/>
              </a:spcAft>
              <a:buSzPts val="1135"/>
              <a:buFont typeface="Arial"/>
              <a:buChar char="●"/>
            </a:pPr>
            <a:r>
              <a:rPr lang="en-GB" sz="1135">
                <a:latin typeface="Arial"/>
                <a:ea typeface="Arial"/>
                <a:cs typeface="Arial"/>
                <a:sym typeface="Arial"/>
              </a:rPr>
              <a:t>SMOTE → synthetic samples can </a:t>
            </a:r>
            <a:r>
              <a:rPr b="1" lang="en-GB" sz="1135">
                <a:latin typeface="Arial"/>
                <a:ea typeface="Arial"/>
                <a:cs typeface="Arial"/>
                <a:sym typeface="Arial"/>
              </a:rPr>
              <a:t>distort boundaries</a:t>
            </a:r>
            <a:r>
              <a:rPr lang="en-GB" sz="1135">
                <a:latin typeface="Arial"/>
                <a:ea typeface="Arial"/>
                <a:cs typeface="Arial"/>
                <a:sym typeface="Arial"/>
              </a:rPr>
              <a:t> if outliers exist</a:t>
            </a:r>
            <a:br>
              <a:rPr lang="en-GB" sz="1135">
                <a:latin typeface="Arial"/>
                <a:ea typeface="Arial"/>
                <a:cs typeface="Arial"/>
                <a:sym typeface="Arial"/>
              </a:rPr>
            </a:br>
            <a:endParaRPr sz="1135">
              <a:latin typeface="Arial"/>
              <a:ea typeface="Arial"/>
              <a:cs typeface="Arial"/>
              <a:sym typeface="Arial"/>
            </a:endParaRPr>
          </a:p>
          <a:p>
            <a:pPr indent="0" lvl="0" marL="0" rtl="0" algn="l">
              <a:lnSpc>
                <a:spcPct val="95000"/>
              </a:lnSpc>
              <a:spcBef>
                <a:spcPts val="1200"/>
              </a:spcBef>
              <a:spcAft>
                <a:spcPts val="1200"/>
              </a:spcAft>
              <a:buSzPts val="935"/>
              <a:buNone/>
            </a:pPr>
            <a:r>
              <a:t/>
            </a:r>
            <a:endParaRPr sz="1135">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1400"/>
              </a:spcBef>
              <a:spcAft>
                <a:spcPts val="400"/>
              </a:spcAft>
              <a:buNone/>
            </a:pPr>
            <a:r>
              <a:rPr lang="en-GB" sz="4090"/>
              <a:t>Why We Used SMOTEENN</a:t>
            </a:r>
            <a:endParaRPr/>
          </a:p>
        </p:txBody>
      </p:sp>
      <p:sp>
        <p:nvSpPr>
          <p:cNvPr id="178" name="Google Shape;178;p3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GB" sz="1300">
                <a:latin typeface="Arial"/>
                <a:ea typeface="Arial"/>
                <a:cs typeface="Arial"/>
                <a:sym typeface="Arial"/>
              </a:rPr>
              <a:t>4. Why Not Undersampling Alone</a:t>
            </a:r>
            <a:endParaRPr b="1" sz="1300">
              <a:latin typeface="Arial"/>
              <a:ea typeface="Arial"/>
              <a:cs typeface="Arial"/>
              <a:sym typeface="Arial"/>
            </a:endParaRPr>
          </a:p>
          <a:p>
            <a:pPr indent="-311150" lvl="0" marL="457200" rtl="0" algn="l">
              <a:spcBef>
                <a:spcPts val="1200"/>
              </a:spcBef>
              <a:spcAft>
                <a:spcPts val="0"/>
              </a:spcAft>
              <a:buSzPts val="1300"/>
              <a:buFont typeface="Arial"/>
              <a:buChar char="●"/>
            </a:pPr>
            <a:r>
              <a:rPr lang="en-GB" sz="1300">
                <a:latin typeface="Arial"/>
                <a:ea typeface="Arial"/>
                <a:cs typeface="Arial"/>
                <a:sym typeface="Arial"/>
              </a:rPr>
              <a:t>Removes majority samples → risk of losing </a:t>
            </a:r>
            <a:r>
              <a:rPr b="1" lang="en-GB" sz="1300">
                <a:latin typeface="Arial"/>
                <a:ea typeface="Arial"/>
                <a:cs typeface="Arial"/>
                <a:sym typeface="Arial"/>
              </a:rPr>
              <a:t>important legit data</a:t>
            </a:r>
            <a:br>
              <a:rPr b="1" lang="en-GB" sz="1300">
                <a:latin typeface="Arial"/>
                <a:ea typeface="Arial"/>
                <a:cs typeface="Arial"/>
                <a:sym typeface="Arial"/>
              </a:rPr>
            </a:br>
            <a:endParaRPr b="1" sz="13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GB" sz="1300">
                <a:latin typeface="Arial"/>
                <a:ea typeface="Arial"/>
                <a:cs typeface="Arial"/>
                <a:sym typeface="Arial"/>
              </a:rPr>
              <a:t>5. Advantages of SMOTEENN</a:t>
            </a:r>
            <a:endParaRPr b="1" sz="1300">
              <a:latin typeface="Arial"/>
              <a:ea typeface="Arial"/>
              <a:cs typeface="Arial"/>
              <a:sym typeface="Arial"/>
            </a:endParaRPr>
          </a:p>
          <a:p>
            <a:pPr indent="-311150" lvl="0" marL="457200" rtl="0" algn="l">
              <a:spcBef>
                <a:spcPts val="1200"/>
              </a:spcBef>
              <a:spcAft>
                <a:spcPts val="0"/>
              </a:spcAft>
              <a:buSzPts val="1300"/>
              <a:buFont typeface="Arial"/>
              <a:buChar char="●"/>
            </a:pPr>
            <a:r>
              <a:rPr b="1" lang="en-GB" sz="1300">
                <a:latin typeface="Arial"/>
                <a:ea typeface="Arial"/>
                <a:cs typeface="Arial"/>
                <a:sym typeface="Arial"/>
              </a:rPr>
              <a:t>SMOTE:</a:t>
            </a:r>
            <a:r>
              <a:rPr lang="en-GB" sz="1300">
                <a:latin typeface="Arial"/>
                <a:ea typeface="Arial"/>
                <a:cs typeface="Arial"/>
                <a:sym typeface="Arial"/>
              </a:rPr>
              <a:t> generates synthetic minority samples</a:t>
            </a:r>
            <a:br>
              <a:rPr lang="en-GB" sz="1300">
                <a:latin typeface="Arial"/>
                <a:ea typeface="Arial"/>
                <a:cs typeface="Arial"/>
                <a:sym typeface="Arial"/>
              </a:rPr>
            </a:b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GB" sz="1300">
                <a:latin typeface="Arial"/>
                <a:ea typeface="Arial"/>
                <a:cs typeface="Arial"/>
                <a:sym typeface="Arial"/>
              </a:rPr>
              <a:t>ENN (Edited Nearest Neighbors):</a:t>
            </a:r>
            <a:r>
              <a:rPr lang="en-GB" sz="1300">
                <a:latin typeface="Arial"/>
                <a:ea typeface="Arial"/>
                <a:cs typeface="Arial"/>
                <a:sym typeface="Arial"/>
              </a:rPr>
              <a:t> cleans noisy or borderline majority samples</a:t>
            </a:r>
            <a:br>
              <a:rPr lang="en-GB" sz="1300">
                <a:latin typeface="Arial"/>
                <a:ea typeface="Arial"/>
                <a:cs typeface="Arial"/>
                <a:sym typeface="Arial"/>
              </a:rPr>
            </a:br>
            <a:endParaRPr sz="1400">
              <a:latin typeface="Arial"/>
              <a:ea typeface="Arial"/>
              <a:cs typeface="Arial"/>
              <a:sym typeface="Arial"/>
            </a:endParaRPr>
          </a:p>
          <a:p>
            <a:pPr indent="-311150" lvl="0" marL="457200" rtl="0" algn="l">
              <a:spcBef>
                <a:spcPts val="0"/>
              </a:spcBef>
              <a:spcAft>
                <a:spcPts val="0"/>
              </a:spcAft>
              <a:buSzPts val="1300"/>
              <a:buFont typeface="Arial"/>
              <a:buChar char="●"/>
            </a:pPr>
            <a:r>
              <a:rPr lang="en-GB" sz="1300">
                <a:latin typeface="Arial"/>
                <a:ea typeface="Arial"/>
                <a:cs typeface="Arial"/>
                <a:sym typeface="Arial"/>
              </a:rPr>
              <a:t>Balances the classes </a:t>
            </a:r>
            <a:r>
              <a:rPr b="1" lang="en-GB" sz="1300">
                <a:latin typeface="Arial"/>
                <a:ea typeface="Arial"/>
                <a:cs typeface="Arial"/>
                <a:sym typeface="Arial"/>
              </a:rPr>
              <a:t>without creating unrealistic points</a:t>
            </a:r>
            <a:br>
              <a:rPr b="1" lang="en-GB" sz="1300">
                <a:latin typeface="Arial"/>
                <a:ea typeface="Arial"/>
                <a:cs typeface="Arial"/>
                <a:sym typeface="Arial"/>
              </a:rPr>
            </a:br>
            <a:endParaRPr b="1" sz="1300">
              <a:latin typeface="Arial"/>
              <a:ea typeface="Arial"/>
              <a:cs typeface="Arial"/>
              <a:sym typeface="Arial"/>
            </a:endParaRPr>
          </a:p>
          <a:p>
            <a:pPr indent="-311150" lvl="0" marL="457200" rtl="0" algn="l">
              <a:spcBef>
                <a:spcPts val="0"/>
              </a:spcBef>
              <a:spcAft>
                <a:spcPts val="0"/>
              </a:spcAft>
              <a:buSzPts val="1300"/>
              <a:buFont typeface="Arial"/>
              <a:buChar char="●"/>
            </a:pPr>
            <a:r>
              <a:rPr lang="en-GB" sz="1300">
                <a:latin typeface="Arial"/>
                <a:ea typeface="Arial"/>
                <a:cs typeface="Arial"/>
                <a:sym typeface="Arial"/>
              </a:rPr>
              <a:t>Improves model performance and generalization</a:t>
            </a:r>
            <a:endParaRPr sz="1300">
              <a:latin typeface="Arial"/>
              <a:ea typeface="Arial"/>
              <a:cs typeface="Arial"/>
              <a:sym typeface="Arial"/>
            </a:endParaRPr>
          </a:p>
          <a:p>
            <a:pPr indent="0" lvl="0" marL="0" rtl="0" algn="l">
              <a:spcBef>
                <a:spcPts val="1200"/>
              </a:spcBef>
              <a:spcAft>
                <a:spcPts val="1200"/>
              </a:spcAft>
              <a:buNone/>
            </a:pPr>
            <a:r>
              <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lnSpc>
                <a:spcPct val="115000"/>
              </a:lnSpc>
              <a:spcBef>
                <a:spcPts val="1400"/>
              </a:spcBef>
              <a:spcAft>
                <a:spcPts val="400"/>
              </a:spcAft>
              <a:buNone/>
            </a:pPr>
            <a:r>
              <a:rPr lang="en-GB" sz="4090"/>
              <a:t>Data distribution after </a:t>
            </a:r>
            <a:r>
              <a:rPr lang="en-GB" sz="4090"/>
              <a:t>SMOTEENN</a:t>
            </a:r>
            <a:endParaRPr/>
          </a:p>
        </p:txBody>
      </p:sp>
      <p:pic>
        <p:nvPicPr>
          <p:cNvPr id="184" name="Google Shape;184;p32"/>
          <p:cNvPicPr preferRelativeResize="0"/>
          <p:nvPr/>
        </p:nvPicPr>
        <p:blipFill>
          <a:blip r:embed="rId3">
            <a:alphaModFix/>
          </a:blip>
          <a:stretch>
            <a:fillRect/>
          </a:stretch>
        </p:blipFill>
        <p:spPr>
          <a:xfrm>
            <a:off x="229663" y="2010950"/>
            <a:ext cx="8684676" cy="2332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33"/>
          <p:cNvPicPr preferRelativeResize="0"/>
          <p:nvPr/>
        </p:nvPicPr>
        <p:blipFill>
          <a:blip r:embed="rId3">
            <a:alphaModFix/>
          </a:blip>
          <a:stretch>
            <a:fillRect/>
          </a:stretch>
        </p:blipFill>
        <p:spPr>
          <a:xfrm>
            <a:off x="326625" y="3117075"/>
            <a:ext cx="8215850" cy="863975"/>
          </a:xfrm>
          <a:prstGeom prst="rect">
            <a:avLst/>
          </a:prstGeom>
          <a:noFill/>
          <a:ln>
            <a:noFill/>
          </a:ln>
        </p:spPr>
      </p:pic>
      <p:sp>
        <p:nvSpPr>
          <p:cNvPr id="190" name="Google Shape;190;p33"/>
          <p:cNvSpPr txBox="1"/>
          <p:nvPr/>
        </p:nvSpPr>
        <p:spPr>
          <a:xfrm>
            <a:off x="1753975" y="911850"/>
            <a:ext cx="4906800" cy="53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en-GB" sz="2300">
                <a:solidFill>
                  <a:schemeClr val="dk1"/>
                </a:solidFill>
              </a:rPr>
              <a:t>Files Exported for Modeling</a:t>
            </a:r>
            <a:endParaRPr b="1" sz="23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Modeling:</a:t>
            </a:r>
            <a:endParaRPr/>
          </a:p>
        </p:txBody>
      </p:sp>
      <p:sp>
        <p:nvSpPr>
          <p:cNvPr id="196" name="Google Shape;196;p3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Decision Tree</a:t>
            </a:r>
            <a:endParaRPr/>
          </a:p>
          <a:p>
            <a:pPr indent="-342900" lvl="0" marL="457200" rtl="0" algn="l">
              <a:spcBef>
                <a:spcPts val="0"/>
              </a:spcBef>
              <a:spcAft>
                <a:spcPts val="0"/>
              </a:spcAft>
              <a:buSzPts val="1800"/>
              <a:buChar char="●"/>
            </a:pPr>
            <a:r>
              <a:rPr lang="en-GB"/>
              <a:t>Random Forest</a:t>
            </a:r>
            <a:endParaRPr/>
          </a:p>
          <a:p>
            <a:pPr indent="-342900" lvl="0" marL="457200" rtl="0" algn="l">
              <a:spcBef>
                <a:spcPts val="0"/>
              </a:spcBef>
              <a:spcAft>
                <a:spcPts val="0"/>
              </a:spcAft>
              <a:buSzPts val="1800"/>
              <a:buChar char="●"/>
            </a:pPr>
            <a:r>
              <a:rPr lang="en-GB"/>
              <a:t>Gradient Boosting</a:t>
            </a:r>
            <a:endParaRPr/>
          </a:p>
          <a:p>
            <a:pPr indent="-342900" lvl="0" marL="457200" rtl="0" algn="l">
              <a:spcBef>
                <a:spcPts val="0"/>
              </a:spcBef>
              <a:spcAft>
                <a:spcPts val="0"/>
              </a:spcAft>
              <a:buSzPts val="1800"/>
              <a:buChar char="●"/>
            </a:pPr>
            <a:r>
              <a:rPr lang="en-GB"/>
              <a:t>Logistic Regression</a:t>
            </a:r>
            <a:endParaRPr/>
          </a:p>
          <a:p>
            <a:pPr indent="-342900" lvl="0" marL="457200" rtl="0" algn="l">
              <a:spcBef>
                <a:spcPts val="0"/>
              </a:spcBef>
              <a:spcAft>
                <a:spcPts val="0"/>
              </a:spcAft>
              <a:buSzPts val="1800"/>
              <a:buChar char="●"/>
            </a:pPr>
            <a:r>
              <a:rPr lang="en-GB"/>
              <a:t>Support Vector Machine (SVM)</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We use 80% Train &amp; 20% Test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Decision Tree</a:t>
            </a:r>
            <a:endParaRPr/>
          </a:p>
        </p:txBody>
      </p:sp>
      <p:sp>
        <p:nvSpPr>
          <p:cNvPr id="202" name="Google Shape;202;p35"/>
          <p:cNvSpPr txBox="1"/>
          <p:nvPr>
            <p:ph idx="1" type="body"/>
          </p:nvPr>
        </p:nvSpPr>
        <p:spPr>
          <a:xfrm>
            <a:off x="311700" y="1225225"/>
            <a:ext cx="4693800" cy="1740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GB" sz="1100">
                <a:latin typeface="Arial"/>
                <a:ea typeface="Arial"/>
                <a:cs typeface="Arial"/>
                <a:sym typeface="Arial"/>
              </a:rPr>
              <a:t>A Decision Tree works by repeatedly splitting the data into smaller groups based on features that best separate the classes, forming a flow-chart–like structure that leads to a prediction. The parameters you tuned control how complex or simple the tree becomes. </a:t>
            </a:r>
            <a:r>
              <a:rPr b="1" lang="en-GB" sz="1100">
                <a:solidFill>
                  <a:srgbClr val="188038"/>
                </a:solidFill>
                <a:latin typeface="Roboto Mono"/>
                <a:ea typeface="Roboto Mono"/>
                <a:cs typeface="Roboto Mono"/>
                <a:sym typeface="Roboto Mono"/>
              </a:rPr>
              <a:t>max_depth</a:t>
            </a:r>
            <a:r>
              <a:rPr lang="en-GB" sz="1100">
                <a:latin typeface="Arial"/>
                <a:ea typeface="Arial"/>
                <a:cs typeface="Arial"/>
                <a:sym typeface="Arial"/>
              </a:rPr>
              <a:t> limits how deep the tree can grow—higher depth allows the model to learn more detailed patterns but can increase overfitting. </a:t>
            </a:r>
            <a:r>
              <a:rPr b="1" lang="en-GB" sz="1100">
                <a:solidFill>
                  <a:srgbClr val="188038"/>
                </a:solidFill>
                <a:latin typeface="Roboto Mono"/>
                <a:ea typeface="Roboto Mono"/>
                <a:cs typeface="Roboto Mono"/>
                <a:sym typeface="Roboto Mono"/>
              </a:rPr>
              <a:t>min_samples_split</a:t>
            </a:r>
            <a:r>
              <a:rPr lang="en-GB" sz="1100">
                <a:latin typeface="Arial"/>
                <a:ea typeface="Arial"/>
                <a:cs typeface="Arial"/>
                <a:sym typeface="Arial"/>
              </a:rPr>
              <a:t> sets the minimum number of samples required to make a split, so larger values reduce the number of splits and create a smoother, more general tree. </a:t>
            </a:r>
            <a:r>
              <a:rPr b="1" lang="en-GB" sz="1100">
                <a:solidFill>
                  <a:srgbClr val="188038"/>
                </a:solidFill>
                <a:latin typeface="Roboto Mono"/>
                <a:ea typeface="Roboto Mono"/>
                <a:cs typeface="Roboto Mono"/>
                <a:sym typeface="Roboto Mono"/>
              </a:rPr>
              <a:t>min_samples_leaf</a:t>
            </a:r>
            <a:r>
              <a:rPr lang="en-GB" sz="1100">
                <a:latin typeface="Arial"/>
                <a:ea typeface="Arial"/>
                <a:cs typeface="Arial"/>
                <a:sym typeface="Arial"/>
              </a:rPr>
              <a:t> forces each leaf to contain a minimum number of samples—bigger values prevent very specific, noisy leaves. </a:t>
            </a:r>
            <a:endParaRPr/>
          </a:p>
        </p:txBody>
      </p:sp>
      <p:sp>
        <p:nvSpPr>
          <p:cNvPr id="203" name="Google Shape;203;p35"/>
          <p:cNvSpPr txBox="1"/>
          <p:nvPr/>
        </p:nvSpPr>
        <p:spPr>
          <a:xfrm>
            <a:off x="433550" y="3084125"/>
            <a:ext cx="3833700" cy="174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Open Sans"/>
                <a:ea typeface="Open Sans"/>
                <a:cs typeface="Open Sans"/>
                <a:sym typeface="Open Sans"/>
              </a:rPr>
              <a:t>Default decision tree parameters :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GB"/>
              <a:t>DT_PARAMS = {</a:t>
            </a:r>
            <a:endParaRPr/>
          </a:p>
          <a:p>
            <a:pPr indent="0" lvl="0" marL="0" rtl="0" algn="l">
              <a:spcBef>
                <a:spcPts val="0"/>
              </a:spcBef>
              <a:spcAft>
                <a:spcPts val="0"/>
              </a:spcAft>
              <a:buClr>
                <a:schemeClr val="dk1"/>
              </a:buClr>
              <a:buSzPts val="1100"/>
              <a:buFont typeface="Arial"/>
              <a:buNone/>
            </a:pPr>
            <a:r>
              <a:rPr lang="en-GB"/>
              <a:t>    "max_depth": 10,</a:t>
            </a:r>
            <a:endParaRPr/>
          </a:p>
          <a:p>
            <a:pPr indent="0" lvl="0" marL="0" rtl="0" algn="l">
              <a:spcBef>
                <a:spcPts val="0"/>
              </a:spcBef>
              <a:spcAft>
                <a:spcPts val="0"/>
              </a:spcAft>
              <a:buClr>
                <a:schemeClr val="dk1"/>
              </a:buClr>
              <a:buSzPts val="1100"/>
              <a:buFont typeface="Arial"/>
              <a:buNone/>
            </a:pPr>
            <a:r>
              <a:rPr lang="en-GB"/>
              <a:t>    "min_samples_split": 20,</a:t>
            </a:r>
            <a:endParaRPr/>
          </a:p>
          <a:p>
            <a:pPr indent="0" lvl="0" marL="0" rtl="0" algn="l">
              <a:spcBef>
                <a:spcPts val="0"/>
              </a:spcBef>
              <a:spcAft>
                <a:spcPts val="0"/>
              </a:spcAft>
              <a:buClr>
                <a:schemeClr val="dk1"/>
              </a:buClr>
              <a:buSzPts val="1100"/>
              <a:buFont typeface="Arial"/>
              <a:buNone/>
            </a:pPr>
            <a:r>
              <a:rPr lang="en-GB"/>
              <a:t>    "min_samples_leaf": 10,</a:t>
            </a:r>
            <a:endParaRPr/>
          </a:p>
          <a:p>
            <a:pPr indent="0" lvl="0" marL="0" rtl="0" algn="l">
              <a:spcBef>
                <a:spcPts val="0"/>
              </a:spcBef>
              <a:spcAft>
                <a:spcPts val="0"/>
              </a:spcAft>
              <a:buClr>
                <a:schemeClr val="dk1"/>
              </a:buClr>
              <a:buSzPts val="1100"/>
              <a:buFont typeface="Arial"/>
              <a:buNone/>
            </a:pPr>
            <a:r>
              <a:rPr lang="en-GB"/>
              <a:t>    "random_state": 42,</a:t>
            </a:r>
            <a:endParaRPr/>
          </a:p>
          <a:p>
            <a:pPr indent="0" lvl="0" marL="0" rtl="0" algn="l">
              <a:spcBef>
                <a:spcPts val="0"/>
              </a:spcBef>
              <a:spcAft>
                <a:spcPts val="0"/>
              </a:spcAft>
              <a:buClr>
                <a:schemeClr val="dk1"/>
              </a:buClr>
              <a:buSzPts val="1100"/>
              <a:buFont typeface="Arial"/>
              <a:buNone/>
            </a:pPr>
            <a:r>
              <a:rPr lang="en-GB"/>
              <a:t>}</a:t>
            </a:r>
            <a:endParaRPr sz="1050">
              <a:solidFill>
                <a:srgbClr val="DCDCDC"/>
              </a:solidFill>
              <a:highlight>
                <a:srgbClr val="282A2C"/>
              </a:highlight>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700">
              <a:solidFill>
                <a:schemeClr val="dk1"/>
              </a:solidFill>
              <a:latin typeface="Open Sans"/>
              <a:ea typeface="Open Sans"/>
              <a:cs typeface="Open Sans"/>
              <a:sym typeface="Open Sans"/>
            </a:endParaRPr>
          </a:p>
        </p:txBody>
      </p:sp>
      <p:pic>
        <p:nvPicPr>
          <p:cNvPr id="204" name="Google Shape;204;p35" title="98ec91f0-f879-4386-b716-a3659c00cbce.jpg"/>
          <p:cNvPicPr preferRelativeResize="0"/>
          <p:nvPr/>
        </p:nvPicPr>
        <p:blipFill>
          <a:blip r:embed="rId3">
            <a:alphaModFix/>
          </a:blip>
          <a:stretch>
            <a:fillRect/>
          </a:stretch>
        </p:blipFill>
        <p:spPr>
          <a:xfrm>
            <a:off x="5095825" y="1097825"/>
            <a:ext cx="3833701" cy="313034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Random Forest</a:t>
            </a:r>
            <a:endParaRPr/>
          </a:p>
        </p:txBody>
      </p:sp>
      <p:sp>
        <p:nvSpPr>
          <p:cNvPr id="210" name="Google Shape;210;p36"/>
          <p:cNvSpPr txBox="1"/>
          <p:nvPr>
            <p:ph idx="1" type="body"/>
          </p:nvPr>
        </p:nvSpPr>
        <p:spPr>
          <a:xfrm>
            <a:off x="311700" y="1225225"/>
            <a:ext cx="4910700" cy="1455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lang="en-GB" sz="1100">
                <a:latin typeface="Arial"/>
                <a:ea typeface="Arial"/>
                <a:cs typeface="Arial"/>
                <a:sym typeface="Arial"/>
              </a:rPr>
              <a:t>Random Forest is an ensemble model that builds many decision trees and combines their predictions to get a stronger, more stable result. Each tree sees slightly different data and features, so the model becomes more accurate and less likely to overfit compared to a single tree. The key parameters that control </a:t>
            </a:r>
            <a:r>
              <a:rPr i="1" lang="en-GB" sz="1100">
                <a:latin typeface="Arial"/>
                <a:ea typeface="Arial"/>
                <a:cs typeface="Arial"/>
                <a:sym typeface="Arial"/>
              </a:rPr>
              <a:t>how many trees are built</a:t>
            </a:r>
            <a:r>
              <a:rPr lang="en-GB" sz="1100">
                <a:latin typeface="Arial"/>
                <a:ea typeface="Arial"/>
                <a:cs typeface="Arial"/>
                <a:sym typeface="Arial"/>
              </a:rPr>
              <a:t> (</a:t>
            </a:r>
            <a:r>
              <a:rPr lang="en-GB" sz="1100">
                <a:solidFill>
                  <a:srgbClr val="188038"/>
                </a:solidFill>
                <a:latin typeface="Roboto Mono"/>
                <a:ea typeface="Roboto Mono"/>
                <a:cs typeface="Roboto Mono"/>
                <a:sym typeface="Roboto Mono"/>
              </a:rPr>
              <a:t>n_estimators</a:t>
            </a:r>
            <a:r>
              <a:rPr lang="en-GB" sz="1100">
                <a:latin typeface="Arial"/>
                <a:ea typeface="Arial"/>
                <a:cs typeface="Arial"/>
                <a:sym typeface="Arial"/>
              </a:rPr>
              <a:t>), </a:t>
            </a:r>
            <a:r>
              <a:rPr i="1" lang="en-GB" sz="1100">
                <a:latin typeface="Arial"/>
                <a:ea typeface="Arial"/>
                <a:cs typeface="Arial"/>
                <a:sym typeface="Arial"/>
              </a:rPr>
              <a:t>how features are selected</a:t>
            </a:r>
            <a:r>
              <a:rPr lang="en-GB" sz="1100">
                <a:latin typeface="Arial"/>
                <a:ea typeface="Arial"/>
                <a:cs typeface="Arial"/>
                <a:sym typeface="Arial"/>
              </a:rPr>
              <a:t> (</a:t>
            </a:r>
            <a:r>
              <a:rPr lang="en-GB" sz="1100">
                <a:solidFill>
                  <a:srgbClr val="188038"/>
                </a:solidFill>
                <a:latin typeface="Roboto Mono"/>
                <a:ea typeface="Roboto Mono"/>
                <a:cs typeface="Roboto Mono"/>
                <a:sym typeface="Roboto Mono"/>
              </a:rPr>
              <a:t>max_features</a:t>
            </a:r>
            <a:r>
              <a:rPr lang="en-GB" sz="1100">
                <a:latin typeface="Arial"/>
                <a:ea typeface="Arial"/>
                <a:cs typeface="Arial"/>
                <a:sym typeface="Arial"/>
              </a:rPr>
              <a:t>), and </a:t>
            </a:r>
            <a:r>
              <a:rPr i="1" lang="en-GB" sz="1100">
                <a:latin typeface="Arial"/>
                <a:ea typeface="Arial"/>
                <a:cs typeface="Arial"/>
                <a:sym typeface="Arial"/>
              </a:rPr>
              <a:t>how the model handles class imbalance</a:t>
            </a:r>
            <a:r>
              <a:rPr lang="en-GB" sz="1100">
                <a:latin typeface="Arial"/>
                <a:ea typeface="Arial"/>
                <a:cs typeface="Arial"/>
                <a:sym typeface="Arial"/>
              </a:rPr>
              <a:t> (</a:t>
            </a:r>
            <a:r>
              <a:rPr lang="en-GB" sz="1100">
                <a:solidFill>
                  <a:srgbClr val="188038"/>
                </a:solidFill>
                <a:latin typeface="Roboto Mono"/>
                <a:ea typeface="Roboto Mono"/>
                <a:cs typeface="Roboto Mono"/>
                <a:sym typeface="Roboto Mono"/>
              </a:rPr>
              <a:t>class_weight</a:t>
            </a:r>
            <a:r>
              <a:rPr lang="en-GB" sz="1100">
                <a:latin typeface="Arial"/>
                <a:ea typeface="Arial"/>
                <a:cs typeface="Arial"/>
                <a:sym typeface="Arial"/>
              </a:rPr>
              <a:t>). Changing these parameters can make the model more or less accurate, more generalizable, or sometimes slower to train. Overall, Random Forest works by reducing noise and improving prediction reliability through the power of averaging many trees.</a:t>
            </a:r>
            <a:endParaRPr/>
          </a:p>
        </p:txBody>
      </p:sp>
      <p:sp>
        <p:nvSpPr>
          <p:cNvPr id="211" name="Google Shape;211;p36"/>
          <p:cNvSpPr txBox="1"/>
          <p:nvPr/>
        </p:nvSpPr>
        <p:spPr>
          <a:xfrm>
            <a:off x="404000" y="2778675"/>
            <a:ext cx="2837700" cy="19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dk1"/>
                </a:solidFill>
                <a:latin typeface="Open Sans"/>
                <a:ea typeface="Open Sans"/>
                <a:cs typeface="Open Sans"/>
                <a:sym typeface="Open Sans"/>
              </a:rPr>
              <a:t>Default params random forest : </a:t>
            </a:r>
            <a:r>
              <a:rPr lang="en-GB" sz="1050">
                <a:solidFill>
                  <a:srgbClr val="D4D4D4"/>
                </a:solidFill>
                <a:highlight>
                  <a:srgbClr val="282A2C"/>
                </a:highlight>
                <a:latin typeface="Courier New"/>
                <a:ea typeface="Courier New"/>
                <a:cs typeface="Courier New"/>
                <a:sym typeface="Courier New"/>
              </a:rPr>
              <a:t> </a:t>
            </a:r>
            <a:r>
              <a:rPr lang="en-GB"/>
              <a:t>RF_PARAMS = {</a:t>
            </a:r>
            <a:endParaRPr/>
          </a:p>
          <a:p>
            <a:pPr indent="0" lvl="0" marL="0" rtl="0" algn="l">
              <a:spcBef>
                <a:spcPts val="0"/>
              </a:spcBef>
              <a:spcAft>
                <a:spcPts val="0"/>
              </a:spcAft>
              <a:buClr>
                <a:schemeClr val="dk1"/>
              </a:buClr>
              <a:buSzPts val="1100"/>
              <a:buFont typeface="Arial"/>
              <a:buNone/>
            </a:pPr>
            <a:r>
              <a:rPr lang="en-GB"/>
              <a:t>"n_estimators": 300,</a:t>
            </a:r>
            <a:endParaRPr/>
          </a:p>
          <a:p>
            <a:pPr indent="0" lvl="0" marL="0" rtl="0" algn="l">
              <a:spcBef>
                <a:spcPts val="0"/>
              </a:spcBef>
              <a:spcAft>
                <a:spcPts val="0"/>
              </a:spcAft>
              <a:buClr>
                <a:schemeClr val="dk1"/>
              </a:buClr>
              <a:buSzPts val="1100"/>
              <a:buFont typeface="Arial"/>
              <a:buNone/>
            </a:pPr>
            <a:r>
              <a:rPr lang="en-GB"/>
              <a:t>"random_state": 42,</a:t>
            </a:r>
            <a:endParaRPr/>
          </a:p>
          <a:p>
            <a:pPr indent="0" lvl="0" marL="0" rtl="0" algn="l">
              <a:spcBef>
                <a:spcPts val="0"/>
              </a:spcBef>
              <a:spcAft>
                <a:spcPts val="0"/>
              </a:spcAft>
              <a:buClr>
                <a:schemeClr val="dk1"/>
              </a:buClr>
              <a:buSzPts val="1100"/>
              <a:buFont typeface="Arial"/>
              <a:buNone/>
            </a:pPr>
            <a:r>
              <a:rPr lang="en-GB"/>
              <a:t>"n_jobs": -1,</a:t>
            </a:r>
            <a:endParaRPr sz="1050">
              <a:solidFill>
                <a:srgbClr val="D4D4D4"/>
              </a:solidFill>
              <a:highlight>
                <a:srgbClr val="282A2C"/>
              </a:highlight>
              <a:latin typeface="Courier New"/>
              <a:ea typeface="Courier New"/>
              <a:cs typeface="Courier New"/>
              <a:sym typeface="Courier New"/>
            </a:endParaRPr>
          </a:p>
          <a:p>
            <a:pPr indent="0" lvl="0" marL="0" rtl="0" algn="l">
              <a:lnSpc>
                <a:spcPct val="115000"/>
              </a:lnSpc>
              <a:spcBef>
                <a:spcPts val="1200"/>
              </a:spcBef>
              <a:spcAft>
                <a:spcPts val="0"/>
              </a:spcAft>
              <a:buNone/>
            </a:pPr>
            <a:r>
              <a:t/>
            </a:r>
            <a:endParaRPr sz="1050">
              <a:solidFill>
                <a:srgbClr val="D4D4D4"/>
              </a:solidFill>
              <a:highlight>
                <a:srgbClr val="282A2C"/>
              </a:highlight>
              <a:latin typeface="Courier New"/>
              <a:ea typeface="Courier New"/>
              <a:cs typeface="Courier New"/>
              <a:sym typeface="Courier New"/>
            </a:endParaRPr>
          </a:p>
          <a:p>
            <a:pPr indent="0" lvl="0" marL="0" rtl="0" algn="l">
              <a:lnSpc>
                <a:spcPct val="135714"/>
              </a:lnSpc>
              <a:spcBef>
                <a:spcPts val="1200"/>
              </a:spcBef>
              <a:spcAft>
                <a:spcPts val="0"/>
              </a:spcAft>
              <a:buClr>
                <a:schemeClr val="dk1"/>
              </a:buClr>
              <a:buSzPts val="1100"/>
              <a:buFont typeface="Arial"/>
              <a:buNone/>
            </a:pPr>
            <a:r>
              <a:t/>
            </a:r>
            <a:endParaRPr sz="1050">
              <a:solidFill>
                <a:srgbClr val="D4D4D4"/>
              </a:solidFill>
              <a:highlight>
                <a:srgbClr val="282A2C"/>
              </a:highlight>
              <a:latin typeface="Courier New"/>
              <a:ea typeface="Courier New"/>
              <a:cs typeface="Courier New"/>
              <a:sym typeface="Courier New"/>
            </a:endParaRPr>
          </a:p>
          <a:p>
            <a:pPr indent="0" lvl="0" marL="0" rtl="0" algn="l">
              <a:spcBef>
                <a:spcPts val="0"/>
              </a:spcBef>
              <a:spcAft>
                <a:spcPts val="0"/>
              </a:spcAft>
              <a:buNone/>
            </a:pPr>
            <a:r>
              <a:t/>
            </a:r>
            <a:endParaRPr sz="1000">
              <a:solidFill>
                <a:schemeClr val="dk1"/>
              </a:solidFill>
              <a:latin typeface="Open Sans"/>
              <a:ea typeface="Open Sans"/>
              <a:cs typeface="Open Sans"/>
              <a:sym typeface="Open Sans"/>
            </a:endParaRPr>
          </a:p>
        </p:txBody>
      </p:sp>
      <p:pic>
        <p:nvPicPr>
          <p:cNvPr id="212" name="Google Shape;212;p36" title="271342ac-17c7-4594-93bf-a686c0f0ce4e.jpg"/>
          <p:cNvPicPr preferRelativeResize="0"/>
          <p:nvPr/>
        </p:nvPicPr>
        <p:blipFill>
          <a:blip r:embed="rId3">
            <a:alphaModFix/>
          </a:blip>
          <a:stretch>
            <a:fillRect/>
          </a:stretch>
        </p:blipFill>
        <p:spPr>
          <a:xfrm>
            <a:off x="5374800" y="1299625"/>
            <a:ext cx="3616800" cy="324319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Gradient Boosting </a:t>
            </a:r>
            <a:endParaRPr/>
          </a:p>
        </p:txBody>
      </p:sp>
      <p:sp>
        <p:nvSpPr>
          <p:cNvPr id="218" name="Google Shape;218;p37"/>
          <p:cNvSpPr txBox="1"/>
          <p:nvPr>
            <p:ph idx="1" type="body"/>
          </p:nvPr>
        </p:nvSpPr>
        <p:spPr>
          <a:xfrm>
            <a:off x="208225" y="1095825"/>
            <a:ext cx="4945800" cy="12999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ct val="33766"/>
              <a:buFont typeface="Arial"/>
              <a:buNone/>
            </a:pPr>
            <a:r>
              <a:rPr lang="en-GB" sz="3257">
                <a:latin typeface="Arial"/>
                <a:ea typeface="Arial"/>
                <a:cs typeface="Arial"/>
                <a:sym typeface="Arial"/>
              </a:rPr>
              <a:t>Gradient Boosting works by training many small decision trees one after another, where each new tree focuses on fixing the errors made by the previous ones. Instead of learning everything at once, the model improves step-by-step, gradually reducing mistakes. The </a:t>
            </a:r>
            <a:r>
              <a:rPr b="1" lang="en-GB" sz="3257">
                <a:latin typeface="Arial"/>
                <a:ea typeface="Arial"/>
                <a:cs typeface="Arial"/>
                <a:sym typeface="Arial"/>
              </a:rPr>
              <a:t>learning_rate</a:t>
            </a:r>
            <a:r>
              <a:rPr lang="en-GB" sz="3257">
                <a:latin typeface="Arial"/>
                <a:ea typeface="Arial"/>
                <a:cs typeface="Arial"/>
                <a:sym typeface="Arial"/>
              </a:rPr>
              <a:t> controls how big each correction step is — smaller values (like 0.01) make learning more careful and usually improve generalization, while larger rates make the model learn faster but risk overfitting. The </a:t>
            </a:r>
            <a:r>
              <a:rPr b="1" lang="en-GB" sz="3257">
                <a:latin typeface="Arial"/>
                <a:ea typeface="Arial"/>
                <a:cs typeface="Arial"/>
                <a:sym typeface="Arial"/>
              </a:rPr>
              <a:t>n_estimators</a:t>
            </a:r>
            <a:r>
              <a:rPr lang="en-GB" sz="3257">
                <a:latin typeface="Arial"/>
                <a:ea typeface="Arial"/>
                <a:cs typeface="Arial"/>
                <a:sym typeface="Arial"/>
              </a:rPr>
              <a:t> parameter sets how many boosting rounds (trees) the model builds; more trees allow deeper refinement of mistakes but only help if the learning rate is small enough. Finally, </a:t>
            </a:r>
            <a:r>
              <a:rPr b="1" lang="en-GB" sz="3257">
                <a:latin typeface="Arial"/>
                <a:ea typeface="Arial"/>
                <a:cs typeface="Arial"/>
                <a:sym typeface="Arial"/>
              </a:rPr>
              <a:t>subsample</a:t>
            </a:r>
            <a:r>
              <a:rPr lang="en-GB" sz="3257">
                <a:latin typeface="Arial"/>
                <a:ea typeface="Arial"/>
                <a:cs typeface="Arial"/>
                <a:sym typeface="Arial"/>
              </a:rPr>
              <a:t> determines what fraction of the data each tree sees; using values below 1.0 introduces randomness that reduces overfitting and usually improves performance. Overall, Gradient Boosting is a strong learner because it combines many small improvements, allowing it to capture patterns deeply while remaining flexible through its parameters.</a:t>
            </a:r>
            <a:endParaRPr sz="3257">
              <a:latin typeface="Arial"/>
              <a:ea typeface="Arial"/>
              <a:cs typeface="Arial"/>
              <a:sym typeface="Arial"/>
            </a:endParaRPr>
          </a:p>
          <a:p>
            <a:pPr indent="0" lvl="0" marL="0" rtl="0" algn="l">
              <a:spcBef>
                <a:spcPts val="1200"/>
              </a:spcBef>
              <a:spcAft>
                <a:spcPts val="0"/>
              </a:spcAft>
              <a:buClr>
                <a:schemeClr val="dk1"/>
              </a:buClr>
              <a:buSzPct val="100000"/>
              <a:buFont typeface="Arial"/>
              <a:buNone/>
            </a:pPr>
            <a:r>
              <a:t/>
            </a:r>
            <a:endParaRPr b="1" sz="1100"/>
          </a:p>
          <a:p>
            <a:pPr indent="0" lvl="0" marL="0" rtl="0" algn="l">
              <a:spcBef>
                <a:spcPts val="1200"/>
              </a:spcBef>
              <a:spcAft>
                <a:spcPts val="1200"/>
              </a:spcAft>
              <a:buNone/>
            </a:pPr>
            <a:r>
              <a:t/>
            </a:r>
            <a:endParaRPr/>
          </a:p>
        </p:txBody>
      </p:sp>
      <p:sp>
        <p:nvSpPr>
          <p:cNvPr id="219" name="Google Shape;219;p37"/>
          <p:cNvSpPr txBox="1"/>
          <p:nvPr/>
        </p:nvSpPr>
        <p:spPr>
          <a:xfrm>
            <a:off x="275475" y="2607975"/>
            <a:ext cx="3000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200"/>
              <a:t>GB_PARAMS = {</a:t>
            </a:r>
            <a:endParaRPr sz="1200"/>
          </a:p>
          <a:p>
            <a:pPr indent="0" lvl="0" marL="0" rtl="0" algn="l">
              <a:spcBef>
                <a:spcPts val="0"/>
              </a:spcBef>
              <a:spcAft>
                <a:spcPts val="0"/>
              </a:spcAft>
              <a:buClr>
                <a:schemeClr val="dk1"/>
              </a:buClr>
              <a:buSzPts val="1100"/>
              <a:buFont typeface="Arial"/>
              <a:buNone/>
            </a:pPr>
            <a:r>
              <a:rPr lang="en-GB" sz="1200"/>
              <a:t>    "n_estimators": 300,     </a:t>
            </a:r>
            <a:endParaRPr sz="1200"/>
          </a:p>
          <a:p>
            <a:pPr indent="0" lvl="0" marL="0" rtl="0" algn="l">
              <a:spcBef>
                <a:spcPts val="0"/>
              </a:spcBef>
              <a:spcAft>
                <a:spcPts val="0"/>
              </a:spcAft>
              <a:buClr>
                <a:schemeClr val="dk1"/>
              </a:buClr>
              <a:buSzPts val="1100"/>
              <a:buFont typeface="Arial"/>
              <a:buNone/>
            </a:pPr>
            <a:r>
              <a:rPr lang="en-GB" sz="1200"/>
              <a:t>    "learning_rate": 0.05,   </a:t>
            </a:r>
            <a:endParaRPr sz="1200"/>
          </a:p>
          <a:p>
            <a:pPr indent="0" lvl="0" marL="0" rtl="0" algn="l">
              <a:spcBef>
                <a:spcPts val="0"/>
              </a:spcBef>
              <a:spcAft>
                <a:spcPts val="0"/>
              </a:spcAft>
              <a:buClr>
                <a:schemeClr val="dk1"/>
              </a:buClr>
              <a:buSzPts val="1100"/>
              <a:buFont typeface="Arial"/>
              <a:buNone/>
            </a:pPr>
            <a:r>
              <a:rPr lang="en-GB" sz="1200"/>
              <a:t>    "max_depth": 5,             </a:t>
            </a:r>
            <a:endParaRPr sz="1200"/>
          </a:p>
          <a:p>
            <a:pPr indent="0" lvl="0" marL="0" rtl="0" algn="l">
              <a:spcBef>
                <a:spcPts val="0"/>
              </a:spcBef>
              <a:spcAft>
                <a:spcPts val="0"/>
              </a:spcAft>
              <a:buClr>
                <a:schemeClr val="dk1"/>
              </a:buClr>
              <a:buSzPts val="1100"/>
              <a:buFont typeface="Arial"/>
              <a:buNone/>
            </a:pPr>
            <a:r>
              <a:rPr lang="en-GB" sz="1200"/>
              <a:t>    "min_samples_split": 5,    </a:t>
            </a:r>
            <a:endParaRPr sz="1200"/>
          </a:p>
          <a:p>
            <a:pPr indent="0" lvl="0" marL="0" rtl="0" algn="l">
              <a:spcBef>
                <a:spcPts val="0"/>
              </a:spcBef>
              <a:spcAft>
                <a:spcPts val="0"/>
              </a:spcAft>
              <a:buClr>
                <a:schemeClr val="dk1"/>
              </a:buClr>
              <a:buSzPts val="1100"/>
              <a:buFont typeface="Arial"/>
              <a:buNone/>
            </a:pPr>
            <a:r>
              <a:rPr lang="en-GB" sz="1200"/>
              <a:t>    "min_samples_leaf": 2,      </a:t>
            </a:r>
            <a:endParaRPr sz="1200"/>
          </a:p>
          <a:p>
            <a:pPr indent="0" lvl="0" marL="0" rtl="0" algn="l">
              <a:spcBef>
                <a:spcPts val="0"/>
              </a:spcBef>
              <a:spcAft>
                <a:spcPts val="0"/>
              </a:spcAft>
              <a:buClr>
                <a:schemeClr val="dk1"/>
              </a:buClr>
              <a:buSzPts val="1100"/>
              <a:buFont typeface="Arial"/>
              <a:buNone/>
            </a:pPr>
            <a:r>
              <a:rPr lang="en-GB" sz="1200"/>
              <a:t>    "subsample": 0.8,          </a:t>
            </a:r>
            <a:endParaRPr sz="1200"/>
          </a:p>
          <a:p>
            <a:pPr indent="0" lvl="0" marL="0" rtl="0" algn="l">
              <a:spcBef>
                <a:spcPts val="0"/>
              </a:spcBef>
              <a:spcAft>
                <a:spcPts val="0"/>
              </a:spcAft>
              <a:buClr>
                <a:schemeClr val="dk1"/>
              </a:buClr>
              <a:buSzPts val="1100"/>
              <a:buFont typeface="Arial"/>
              <a:buNone/>
            </a:pPr>
            <a:r>
              <a:rPr lang="en-GB" sz="1200"/>
              <a:t>    "max_features": "sqrt",  </a:t>
            </a:r>
            <a:endParaRPr sz="1200"/>
          </a:p>
          <a:p>
            <a:pPr indent="0" lvl="0" marL="0" rtl="0" algn="l">
              <a:spcBef>
                <a:spcPts val="0"/>
              </a:spcBef>
              <a:spcAft>
                <a:spcPts val="0"/>
              </a:spcAft>
              <a:buClr>
                <a:schemeClr val="dk1"/>
              </a:buClr>
              <a:buSzPts val="1100"/>
              <a:buFont typeface="Arial"/>
              <a:buNone/>
            </a:pPr>
            <a:r>
              <a:rPr lang="en-GB" sz="1200"/>
              <a:t>}</a:t>
            </a:r>
            <a:endParaRPr sz="850">
              <a:solidFill>
                <a:srgbClr val="D4D4D4"/>
              </a:solidFill>
              <a:highlight>
                <a:srgbClr val="1E1E1E"/>
              </a:highlight>
              <a:latin typeface="Courier New"/>
              <a:ea typeface="Courier New"/>
              <a:cs typeface="Courier New"/>
              <a:sym typeface="Courier New"/>
            </a:endParaRPr>
          </a:p>
          <a:p>
            <a:pPr indent="0" lvl="0" marL="0" rtl="0" algn="l">
              <a:spcBef>
                <a:spcPts val="0"/>
              </a:spcBef>
              <a:spcAft>
                <a:spcPts val="0"/>
              </a:spcAft>
              <a:buNone/>
            </a:pPr>
            <a:r>
              <a:t/>
            </a:r>
            <a:endParaRPr sz="1200"/>
          </a:p>
        </p:txBody>
      </p:sp>
      <p:pic>
        <p:nvPicPr>
          <p:cNvPr id="220" name="Google Shape;220;p37" title="ac4de140-64e9-4cef-a1ee-c4c8d4b2f95b.jpg"/>
          <p:cNvPicPr preferRelativeResize="0"/>
          <p:nvPr/>
        </p:nvPicPr>
        <p:blipFill>
          <a:blip r:embed="rId3">
            <a:alphaModFix/>
          </a:blip>
          <a:stretch>
            <a:fillRect/>
          </a:stretch>
        </p:blipFill>
        <p:spPr>
          <a:xfrm>
            <a:off x="5373675" y="1299625"/>
            <a:ext cx="3617925" cy="30238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8"/>
          <p:cNvSpPr txBox="1"/>
          <p:nvPr>
            <p:ph type="title"/>
          </p:nvPr>
        </p:nvSpPr>
        <p:spPr>
          <a:xfrm>
            <a:off x="311700" y="315925"/>
            <a:ext cx="87843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Logistic Regression &amp; </a:t>
            </a:r>
            <a:r>
              <a:rPr lang="en-GB"/>
              <a:t>Support Vector Machine</a:t>
            </a:r>
            <a:endParaRPr/>
          </a:p>
        </p:txBody>
      </p:sp>
      <p:sp>
        <p:nvSpPr>
          <p:cNvPr id="226" name="Google Shape;226;p3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GB" sz="1600">
                <a:highlight>
                  <a:schemeClr val="lt1"/>
                </a:highlight>
              </a:rPr>
              <a:t>Logistic Regression is</a:t>
            </a:r>
            <a:r>
              <a:rPr lang="en-GB" sz="1600">
                <a:highlight>
                  <a:schemeClr val="lt1"/>
                </a:highlight>
              </a:rPr>
              <a:t> a simple linear model that predicts the probability of fraud based on a weighted combination of features. It’s fast, easy to interpret, and serves as a strong baseline.</a:t>
            </a:r>
            <a:r>
              <a:rPr lang="en-GB" sz="1600"/>
              <a:t> </a:t>
            </a:r>
            <a:endParaRPr sz="1600"/>
          </a:p>
          <a:p>
            <a:pPr indent="0" lvl="0" marL="0" rtl="0" algn="l">
              <a:spcBef>
                <a:spcPts val="1200"/>
              </a:spcBef>
              <a:spcAft>
                <a:spcPts val="0"/>
              </a:spcAft>
              <a:buNone/>
            </a:pPr>
            <a:r>
              <a:t/>
            </a:r>
            <a:endParaRPr sz="1600"/>
          </a:p>
          <a:p>
            <a:pPr indent="-330200" lvl="0" marL="457200" rtl="0" algn="l">
              <a:spcBef>
                <a:spcPts val="1200"/>
              </a:spcBef>
              <a:spcAft>
                <a:spcPts val="0"/>
              </a:spcAft>
              <a:buSzPts val="1600"/>
              <a:buChar char="●"/>
            </a:pPr>
            <a:r>
              <a:rPr lang="en-GB" sz="1600"/>
              <a:t>SVM tries to find the best boundary that separates fraud and non-fraud providers by looking at the closest data points “support vectors” and maximizing the margin between the two classes.</a:t>
            </a:r>
            <a:endParaRPr sz="1600"/>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idx="1" type="body"/>
          </p:nvPr>
        </p:nvSpPr>
        <p:spPr>
          <a:xfrm>
            <a:off x="311700" y="163750"/>
            <a:ext cx="8520600" cy="480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Using Provider_features dataset: </a:t>
            </a:r>
            <a:endParaRPr/>
          </a:p>
          <a:p>
            <a:pPr indent="0" lvl="0" marL="0" rtl="0" algn="l">
              <a:spcBef>
                <a:spcPts val="1200"/>
              </a:spcBef>
              <a:spcAft>
                <a:spcPts val="0"/>
              </a:spcAft>
              <a:buNone/>
            </a:pPr>
            <a:r>
              <a:rPr lang="en-GB"/>
              <a:t>Test: 1082</a:t>
            </a:r>
            <a:endParaRPr/>
          </a:p>
          <a:p>
            <a:pPr indent="0" lvl="0" marL="0" rtl="0" algn="l">
              <a:spcBef>
                <a:spcPts val="1200"/>
              </a:spcBef>
              <a:spcAft>
                <a:spcPts val="0"/>
              </a:spcAft>
              <a:buNone/>
            </a:pPr>
            <a:r>
              <a:rPr lang="en-GB"/>
              <a:t>Not Fraud: 981</a:t>
            </a:r>
            <a:endParaRPr/>
          </a:p>
          <a:p>
            <a:pPr indent="0" lvl="0" marL="0" rtl="0" algn="l">
              <a:spcBef>
                <a:spcPts val="1200"/>
              </a:spcBef>
              <a:spcAft>
                <a:spcPts val="1200"/>
              </a:spcAft>
              <a:buNone/>
            </a:pPr>
            <a:r>
              <a:rPr lang="en-GB"/>
              <a:t>Fraud: 101</a:t>
            </a:r>
            <a:endParaRPr/>
          </a:p>
        </p:txBody>
      </p:sp>
      <p:pic>
        <p:nvPicPr>
          <p:cNvPr id="232" name="Google Shape;232;p39"/>
          <p:cNvPicPr preferRelativeResize="0"/>
          <p:nvPr/>
        </p:nvPicPr>
        <p:blipFill>
          <a:blip r:embed="rId3">
            <a:alphaModFix/>
          </a:blip>
          <a:stretch>
            <a:fillRect/>
          </a:stretch>
        </p:blipFill>
        <p:spPr>
          <a:xfrm>
            <a:off x="622213" y="2310338"/>
            <a:ext cx="4505325" cy="2085975"/>
          </a:xfrm>
          <a:prstGeom prst="rect">
            <a:avLst/>
          </a:prstGeom>
          <a:noFill/>
          <a:ln>
            <a:noFill/>
          </a:ln>
        </p:spPr>
      </p:pic>
      <p:pic>
        <p:nvPicPr>
          <p:cNvPr id="233" name="Google Shape;233;p39"/>
          <p:cNvPicPr preferRelativeResize="0"/>
          <p:nvPr/>
        </p:nvPicPr>
        <p:blipFill>
          <a:blip r:embed="rId4">
            <a:alphaModFix/>
          </a:blip>
          <a:stretch>
            <a:fillRect/>
          </a:stretch>
        </p:blipFill>
        <p:spPr>
          <a:xfrm>
            <a:off x="3831663" y="795975"/>
            <a:ext cx="5000625" cy="2114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0"/>
          <p:cNvSpPr txBox="1"/>
          <p:nvPr>
            <p:ph idx="1" type="body"/>
          </p:nvPr>
        </p:nvSpPr>
        <p:spPr>
          <a:xfrm>
            <a:off x="311700" y="352850"/>
            <a:ext cx="8520600" cy="422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Using data_smote_resampled dataset:</a:t>
            </a:r>
            <a:endParaRPr/>
          </a:p>
          <a:p>
            <a:pPr indent="0" lvl="0" marL="0" rtl="0" algn="l">
              <a:spcBef>
                <a:spcPts val="1200"/>
              </a:spcBef>
              <a:spcAft>
                <a:spcPts val="0"/>
              </a:spcAft>
              <a:buNone/>
            </a:pPr>
            <a:r>
              <a:rPr lang="en-GB"/>
              <a:t>Test: 1472</a:t>
            </a:r>
            <a:endParaRPr/>
          </a:p>
          <a:p>
            <a:pPr indent="0" lvl="0" marL="0" rtl="0" algn="l">
              <a:spcBef>
                <a:spcPts val="1200"/>
              </a:spcBef>
              <a:spcAft>
                <a:spcPts val="0"/>
              </a:spcAft>
              <a:buNone/>
            </a:pPr>
            <a:r>
              <a:rPr lang="en-GB"/>
              <a:t>Not Fraud: 981</a:t>
            </a:r>
            <a:endParaRPr/>
          </a:p>
          <a:p>
            <a:pPr indent="0" lvl="0" marL="0" rtl="0" algn="l">
              <a:spcBef>
                <a:spcPts val="1200"/>
              </a:spcBef>
              <a:spcAft>
                <a:spcPts val="1200"/>
              </a:spcAft>
              <a:buNone/>
            </a:pPr>
            <a:r>
              <a:rPr lang="en-GB"/>
              <a:t>Fraud: 491</a:t>
            </a:r>
            <a:endParaRPr/>
          </a:p>
        </p:txBody>
      </p:sp>
      <p:pic>
        <p:nvPicPr>
          <p:cNvPr id="239" name="Google Shape;239;p40"/>
          <p:cNvPicPr preferRelativeResize="0"/>
          <p:nvPr/>
        </p:nvPicPr>
        <p:blipFill>
          <a:blip r:embed="rId3">
            <a:alphaModFix/>
          </a:blip>
          <a:stretch>
            <a:fillRect/>
          </a:stretch>
        </p:blipFill>
        <p:spPr>
          <a:xfrm>
            <a:off x="456075" y="2521850"/>
            <a:ext cx="4629150" cy="2057400"/>
          </a:xfrm>
          <a:prstGeom prst="rect">
            <a:avLst/>
          </a:prstGeom>
          <a:noFill/>
          <a:ln>
            <a:noFill/>
          </a:ln>
        </p:spPr>
      </p:pic>
      <p:pic>
        <p:nvPicPr>
          <p:cNvPr id="240" name="Google Shape;240;p40"/>
          <p:cNvPicPr preferRelativeResize="0"/>
          <p:nvPr/>
        </p:nvPicPr>
        <p:blipFill>
          <a:blip r:embed="rId4">
            <a:alphaModFix/>
          </a:blip>
          <a:stretch>
            <a:fillRect/>
          </a:stretch>
        </p:blipFill>
        <p:spPr>
          <a:xfrm>
            <a:off x="3975075" y="1078850"/>
            <a:ext cx="4610100" cy="21145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1"/>
          <p:cNvSpPr txBox="1"/>
          <p:nvPr>
            <p:ph idx="1" type="body"/>
          </p:nvPr>
        </p:nvSpPr>
        <p:spPr>
          <a:xfrm>
            <a:off x="311700" y="352850"/>
            <a:ext cx="8520600" cy="422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Using data_smoteenn_cleaned dataset:</a:t>
            </a:r>
            <a:endParaRPr/>
          </a:p>
          <a:p>
            <a:pPr indent="0" lvl="0" marL="0" rtl="0" algn="l">
              <a:spcBef>
                <a:spcPts val="1200"/>
              </a:spcBef>
              <a:spcAft>
                <a:spcPts val="0"/>
              </a:spcAft>
              <a:buNone/>
            </a:pPr>
            <a:r>
              <a:rPr lang="en-GB"/>
              <a:t>Test: 1826</a:t>
            </a:r>
            <a:endParaRPr/>
          </a:p>
          <a:p>
            <a:pPr indent="0" lvl="0" marL="0" rtl="0" algn="l">
              <a:spcBef>
                <a:spcPts val="1200"/>
              </a:spcBef>
              <a:spcAft>
                <a:spcPts val="0"/>
              </a:spcAft>
              <a:buNone/>
            </a:pPr>
            <a:r>
              <a:rPr lang="en-GB"/>
              <a:t>Not Fraud: 981</a:t>
            </a:r>
            <a:endParaRPr/>
          </a:p>
          <a:p>
            <a:pPr indent="0" lvl="0" marL="0" rtl="0" algn="l">
              <a:spcBef>
                <a:spcPts val="1200"/>
              </a:spcBef>
              <a:spcAft>
                <a:spcPts val="1200"/>
              </a:spcAft>
              <a:buNone/>
            </a:pPr>
            <a:r>
              <a:rPr lang="en-GB"/>
              <a:t>Fraud: 845</a:t>
            </a:r>
            <a:endParaRPr/>
          </a:p>
        </p:txBody>
      </p:sp>
      <p:pic>
        <p:nvPicPr>
          <p:cNvPr id="246" name="Google Shape;246;p41"/>
          <p:cNvPicPr preferRelativeResize="0"/>
          <p:nvPr/>
        </p:nvPicPr>
        <p:blipFill>
          <a:blip r:embed="rId3">
            <a:alphaModFix/>
          </a:blip>
          <a:stretch>
            <a:fillRect/>
          </a:stretch>
        </p:blipFill>
        <p:spPr>
          <a:xfrm>
            <a:off x="365625" y="2533350"/>
            <a:ext cx="5048250" cy="2190750"/>
          </a:xfrm>
          <a:prstGeom prst="rect">
            <a:avLst/>
          </a:prstGeom>
          <a:noFill/>
          <a:ln>
            <a:noFill/>
          </a:ln>
        </p:spPr>
      </p:pic>
      <p:pic>
        <p:nvPicPr>
          <p:cNvPr id="247" name="Google Shape;247;p41"/>
          <p:cNvPicPr preferRelativeResize="0"/>
          <p:nvPr/>
        </p:nvPicPr>
        <p:blipFill>
          <a:blip r:embed="rId4">
            <a:alphaModFix/>
          </a:blip>
          <a:stretch>
            <a:fillRect/>
          </a:stretch>
        </p:blipFill>
        <p:spPr>
          <a:xfrm>
            <a:off x="4013113" y="996325"/>
            <a:ext cx="4600575" cy="2152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2"/>
          <p:cNvSpPr txBox="1"/>
          <p:nvPr>
            <p:ph idx="1" type="body"/>
          </p:nvPr>
        </p:nvSpPr>
        <p:spPr>
          <a:xfrm>
            <a:off x="311700" y="171200"/>
            <a:ext cx="8520600" cy="4407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Which is better?</a:t>
            </a:r>
            <a:endParaRPr/>
          </a:p>
        </p:txBody>
      </p:sp>
      <p:pic>
        <p:nvPicPr>
          <p:cNvPr id="253" name="Google Shape;253;p42"/>
          <p:cNvPicPr preferRelativeResize="0"/>
          <p:nvPr/>
        </p:nvPicPr>
        <p:blipFill>
          <a:blip r:embed="rId3">
            <a:alphaModFix/>
          </a:blip>
          <a:stretch>
            <a:fillRect/>
          </a:stretch>
        </p:blipFill>
        <p:spPr>
          <a:xfrm>
            <a:off x="427250" y="678313"/>
            <a:ext cx="5029200" cy="2124075"/>
          </a:xfrm>
          <a:prstGeom prst="rect">
            <a:avLst/>
          </a:prstGeom>
          <a:noFill/>
          <a:ln>
            <a:noFill/>
          </a:ln>
        </p:spPr>
      </p:pic>
      <p:pic>
        <p:nvPicPr>
          <p:cNvPr id="254" name="Google Shape;254;p42"/>
          <p:cNvPicPr preferRelativeResize="0"/>
          <p:nvPr/>
        </p:nvPicPr>
        <p:blipFill>
          <a:blip r:embed="rId4">
            <a:alphaModFix/>
          </a:blip>
          <a:stretch>
            <a:fillRect/>
          </a:stretch>
        </p:blipFill>
        <p:spPr>
          <a:xfrm>
            <a:off x="2025150" y="1418925"/>
            <a:ext cx="4743450" cy="2171700"/>
          </a:xfrm>
          <a:prstGeom prst="rect">
            <a:avLst/>
          </a:prstGeom>
          <a:noFill/>
          <a:ln>
            <a:noFill/>
          </a:ln>
        </p:spPr>
      </p:pic>
      <p:pic>
        <p:nvPicPr>
          <p:cNvPr id="255" name="Google Shape;255;p42"/>
          <p:cNvPicPr preferRelativeResize="0"/>
          <p:nvPr/>
        </p:nvPicPr>
        <p:blipFill>
          <a:blip r:embed="rId5">
            <a:alphaModFix/>
          </a:blip>
          <a:stretch>
            <a:fillRect/>
          </a:stretch>
        </p:blipFill>
        <p:spPr>
          <a:xfrm>
            <a:off x="3542900" y="2646100"/>
            <a:ext cx="5218150" cy="2114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Thank You, script lettering (provided by Getty Images)" id="260" name="Google Shape;260;p43"/>
          <p:cNvPicPr preferRelativeResize="0"/>
          <p:nvPr/>
        </p:nvPicPr>
        <p:blipFill>
          <a:blip r:embed="rId3">
            <a:alphaModFix/>
          </a:blip>
          <a:stretch>
            <a:fillRect/>
          </a:stretch>
        </p:blipFill>
        <p:spPr>
          <a:xfrm>
            <a:off x="474325" y="327500"/>
            <a:ext cx="8195348" cy="4421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